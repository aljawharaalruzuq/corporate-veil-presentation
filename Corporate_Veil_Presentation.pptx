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Foundations" id="{18db8c3f-c914-460e-b41a-daabf104cc13}">
          <p14:sldIdLst>
            <p14:sldId id="256"/>
            <p14:sldId id="257"/>
            <p14:sldId id="258"/>
            <p14:sldId id="259"/>
            <p14:sldId id="260"/>
          </p14:sldIdLst>
        </p14:section>
        <p14:section name="Part 2 · Legal frameworks" id="{6ed8d914-de3c-5e57-0135-40d261be157b}">
          <p14:sldIdLst>
            <p14:sldId id="261"/>
            <p14:sldId id="262"/>
            <p14:sldId id="263"/>
            <p14:sldId id="264"/>
            <p14:sldId id="265"/>
          </p14:sldIdLst>
        </p14:section>
        <p14:section name="Part 3 · Comparison &amp; verdict" id="{a2cb2104-f06e-fffd-50f9-28c916622e7f}">
          <p14:sldIdLst>
            <p14:sldId id="266"/>
            <p14:sldId id="267"/>
            <p14:sldId id="268"/>
            <p14:sldId id="269"/>
            <p14:sldId id="270"/>
            <p14:sldId id="271"/>
          </p14:sldIdLst>
        </p14:section>
        <p14:section name="Appendix · Scenario answers" id="{9fa4ff13-9b6b-5330-a7d7-4d1dbb7ceb35}">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EMAN (about 0:30)
Good morning. Our paper looks at one question that sits at the centre of company law: when should the law look past the company and hold the people behind it responsible?
We answer it by comparing Saudi Arabia's Companies Law of 2022 with the UK position built by the courts and by the Insolvency Act 1986.
I'll set out the foundations, Monerah will take you through the Saudi and UK frameworks, and Nouran will compare them, run a short interactive exercise with you, and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EMAN (about 0:30)
Here's how the next fifteen minutes run. Part one is the theory: what the veil is and why the law protects it. Part two is the law itself in each jurisdiction. Part three puts them side by side, tests them on four short scenarios with you, and gives our verdict.
(Presenter tip: the Jump links work in Slide Show mode if you need to move between parts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EMAN (about 1:20)
Picture three groups. On the left, the shareholders and directors. In the middle, the company, which the law treats as a person in its own right. On the right, everyone who deals with it: lenders, suppliers, employees, people it harms.
The veil sits between the company and the people behind it. A creditor's claim normally stops at the company. If the company can't pay, the creditor usually can't reach the owners' personal assets.
In almost every company there are real people making the decisions, so the risk is obvious: the structure can be used to do things those people couldn't lawfully do in their own name.
So our research question is how each system balances the company's independence against that risk of misuse, and when it lets a claimant reach the individuals.
One point of method: we separate true veil piercing from other routes to personal liability, like directors' statutory duties. As you'll see, most personal liability in both systems comes through those other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EMAN (about 1:20)
These two ideas travel together but they answer different questions.
Separate legal personality answers "who is the party?" The company holds its own property and owes its own debts.
Limited liability answers "how much can an investor lose?" As Cornell's Legal Information Institute puts it, limited liability generally protects investors from personal responsibility for the entity's debts. The cap is their contribution.
You can have one without the other: a Saudi joint liability company has legal personality, yet its partners are personally liable for its debts.
The trade-off at the bottom is the heart of the topic. Investors get a capped downside, and creditors absorb what's left. That's why an unpaid company debt should never, on its own, make the owners personally liable. If it did, limited liability would protect nobody.
The case that fixed this rule for the common law world is Salomon.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EMAN (about 1:20, then hand over)
Salomon is the starting point for both of our systems.
Aron Salomon turned his boot business into a company. He held 20,001 of the 20,007 shares; his family held one each. He also took secured debentures. When the company failed, the liquidator argued the company was really just Salomon under another name.
The House of Lords disagreed. Once the formalities are met, the company is a different person from its members, however much one of them controls it. Salomon wasn't liable for its debts, and as a secured creditor he was paid ahead of the unsecured ones.
That is the rule both systems accept. The Saudi Companies Law reaches the same place through statute: a company acquires legal personality on registration in the Commercial Register.
So the real question isn't whether the veil exists. It's when each system will let a claimant get past it. Monerah will now show how Saudi law and UK law answer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MONERAH (about 1:15)
Thank you, Eman. Saudi Arabia's rules sit in the Companies Law issued by Royal Decree M/132 in 1443H, which came into force in January 2023.
Saudi law doesn't build veil piercing as a single court-made doctrine. Instead the statute names specific situations where individuals answer personally. The first group is about timing.
Under Article 9, the company becomes a legal person when it's registered in the Commercial Register. Before that it has personality only so far as needed to complete incorporation. If incorporation isn't completed, the people who acted or contracted in the company's name are jointly and personally liable to third parties.
Article 8 adds a duty to register the company's documents. Those responsible who fail to do so are jointly and severally liable for the damage.
Notice the trigger here is objective. A claimant doesn't need to prove fraud or bad intent, only that the formal step didn't happen. Keep that in mind, because it's the opposite of the UK test you'll see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MONERAH (about 1:15)
The second group of Saudi rules targets the people who run the company.
Articles 26 and 27 set duties of care and loyalty, and bar conflicts and competition without approval.
Article 28 is the most important provision for our topic. Managers and board members are jointly liable to compensate the company, its partners or shareholders, or third parties, for damage caused by breaching the Law or the articles, or by error or negligence. A clause that tries to exclude this is void from the start.
Two more targeted rules: under Article 242(2), members who resolve to dissolve when the assets can't cover the debts become jointly liable for those debts. Under Article 209, partners in a professional company answer personally for their own professional errors.
On the right is the Sharia layer. Saudi courts apply Sharia principles against harm and fraud, and Vogel's study of the Saudi legal system describes how much discretion that leaves judges. That could reach misuse the statute doesn't list. But because so few commercial judgments are published, we can't say how often it does.
The key point at the bottom is the one to carry into the comparison: Article 28 gives outsiders a direct claim against the people running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MONERAH (about 1:00)
The UK starts from Salomon and treats limited liability as the norm. And in practice, most personal liability doesn't come from piercing the veil at all. It comes from statute.
Section 213 of the Insolvency Act targets fraudulent trading: anyone knowingly party to carrying on the business with intent to defraud creditors.
Section 214 targets wrongful trading. A director who knew, or ought to have concluded, that insolvent liquidation couldn't reasonably be avoided can be ordered to contribute, unless they took every step to minimise creditors' losses.
Two limits matter for our comparison. First, these provisions hold people responsible for their own conduct; the company stays a separate person. Second, they only bite once the company is in insolvent liquidation, and the money goes into the pot for all creditors, not to one claimant. Gower describes these provisions as doing much of the work that piercing is popularly thought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MONERAH (about 1:15)
Alongside statute, the courts kept a narrow power to look behind the company. This timeline shows the door closing.
In Gilford Motor v Horne, a former employee bound by a covenant not to solicit customers set up a company to do exactly that. The court called the company a sham and granted an injunction against both him and the company.
In Jones v Lipman, a seller transferred land to his own company to avoid completing a sale. Specific performance was ordered against the company.
Then Adams v Cape Industries in 1990. The Court of Appeal refused to treat a corporate group as one economic unit, and said the veil can't be lifted simply because justice seems to require it. Using a group structure to limit future liabilities is a legitimate use of the company form.
Finally, Prest v Petrodel in 2013, where the Supreme Court set the modern test. Let's look at it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MONERAH (about 1:15, then hand over)
In Prest, a wife sought properties in London that were legally owned by companies her husband controlled.
Lord Sumption drew a line between two ideas. The concealment principle lets a court look behind a company to identify the real actors, but that's not piercing; it respects the company. The evasion principle is real piercing, and it's available only where someone is already under a legal obligation and deliberately evades it by interposing a company they control. Even then, only if no other remedy works.
On the facts, the evasion principle didn't apply. Yet the wife still won, because the companies held the properties on resulting trust for the husband. Ordinary trust law did what piercing couldn't.
So the UK position is predictable and protects investment, but it leaves little room for creditors whose claims arise after the structure is set up, such as tort victims.
Nouran will now compare the two systems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NOURAN (about 1:30)
Thank you, Monerah. Both systems agree on the starting point: the company is a separate person and limited liability is the norm. The differences are in where the exceptions come from and what triggers them.
Source: the UK relies on statute plus a doctrine the Supreme Court narrowed in Prest. Saudi law lists specific situations in the statute, for example Article 9's rule on acting before incorporation is complete. That makes Saudi law more predictable in advance, but only for the situations it covers.
Trigger: the UK test needs deliberate evasion of an existing duty, which is hard to establish. Most Saudi triggers are objective. The claimant doesn't need to prove bad intent.
Directors: this is the clearest difference. UK directors owe their duties to the company, and outsiders mostly reach them through insolvency law. Article 28 gives outsiders a direct claim.
Judges: UK judges treat piercing as a last resort. Saudi courts have Sharia principles as a wider base, but with few published judgments, that's hard to measure.
And each has a gap: the UK protects involuntary creditors poorly, and Saudi law has no general anti-abuse rule beyond its listed provisions.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NOURAN (about 1:30 including answers)
Let's test the comparison. Here are four short scenarios. For each one, ask yourself: in the UK, and in Saudi Arabia, does the individual end up personally liable, and is that because the veil is pierced or for some other reason?
(Ask the audience for a quick show of hands on one or two. Click the scenario title or "Reveal" to open its answer slide; each answer slide has a "Back to scenarios" button. If time is short, do scenarios 1 and 3 only: they show the sharpest contrast.)
Scenario 1 is Jones v Lipman with the names changed. Scenario 2 is Adams v Cape. Scenario 3 tests Article 9. Scenario 4 tests wrongful trading against Article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NOURAN (about 1:00)
So, how do they compare overall?
The UK test is clear and lets investors price their risk. The cost falls on people who never chose to deal with the company. A tort victim can't negotiate a personal guarantee, and Prest gives them little help.
Saudi law does better for outsiders against directors, because Article 28 gives a direct claim and the triggers are objective. Its weakness is the opposite of the UK's: outside the listed provisions there's no general anti-abuse rule, and the Sharia discretion that could fill that gap is hard to predict because so few judgments are published.
Our view: the UK trades flexibility for certainty, Saudi Arabia trades some certainty for wider accountability. Publishing commercial judgments would make the Saudi position much easier to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NOURAN (about 0:45)
To conclude, three points.
First, both systems share the same foundation from Salomon and Article 9: the company is a separate person, and limited liability is the rule.
Second, they handle exceptions differently. The UK, after Prest, pierces only for deliberate evasion, and only as a last resort. Saudi law lists objective situations in the statute.
Third, in both systems the liability that actually reaches individuals mostly runs through statute against directors, not through piercing.
The real question, then, is who carries the cost when the company form is misused. The UK leaves more of it with creditors; Saudi law shifts more of it onto the people running the company.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in OSCOLA style. Leave on screen during questions if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didn't Prest pierce the veil? (Evasion not engaged; trust law gave the remedy.) Does Art 28 make Saudi law 'pierce' the veil? (No, it is personal liability for the director's own breach, the company stays separate.) Could Sharia principles support a general anti-abuse rule? (Possibly, but without published judgments we can't show how courts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(appendix). Read the verdicts, give one sentence of reasoning for each, then click 'Back to scenarios'. From the scenarios slide, press the right arrow to continue to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(appendix). Read the verdicts, give one sentence of reasoning for each, then click 'Back to scenarios'. From the scenarios slide, press the right arrow to continue to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(appendix). Read the verdicts, give one sentence of reasoning for each, then click 'Back to scenarios'. From the scenarios slide, press the right arrow to continue to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(appendix). Read the verdicts, give one sentence of reasoning for each, then click 'Back to scenarios'. From the scenarios slide, press the right arrow to continue to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886200"/>
            <a:ext cx="10698480" cy="91440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Lifting the Corporate Veil  |  Company Law 342</a:t>
            </a:r>
            <a:endParaRPr lang="en-US" sz="1000" dirty="0"/>
          </a:p>
        </p:txBody>
      </p:sp>
      <p:sp>
        <p:nvSpPr>
          <p:cNvPr id="3" name="Text 1"/>
          <p:cNvSpPr/>
          <p:nvPr>
            <p:ph idx="101" type="title" hasCustomPrompt="1"/>
          </p:nvPr>
        </p:nvSpPr>
        <p:spPr>
          <a:xfrm>
            <a:off x="548640" y="411480"/>
            <a:ext cx="859536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11.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17.xml"/><Relationship Id="rId3" Type="http://schemas.openxmlformats.org/officeDocument/2006/relationships/slide" Target="slide17.xml"/><Relationship Id="rId5" Type="http://schemas.openxmlformats.org/officeDocument/2006/relationships/slide" Target="slide18.xml"/><Relationship Id="rId6" Type="http://schemas.openxmlformats.org/officeDocument/2006/relationships/slide" Target="slide18.xml"/><Relationship Id="rId8" Type="http://schemas.openxmlformats.org/officeDocument/2006/relationships/slide" Target="slide19.xml"/><Relationship Id="rId9"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0.xml"/><Relationship Id="rId1" Type="http://schemas.openxmlformats.org/officeDocument/2006/relationships/image" Target="../media/image-12-1.png"/><Relationship Id="rId4" Type="http://schemas.openxmlformats.org/officeDocument/2006/relationships/image" Target="../media/image-12-2.png"/><Relationship Id="rId7" Type="http://schemas.openxmlformats.org/officeDocument/2006/relationships/image" Target="../media/image-12-3.png"/><Relationship Id="rId10" Type="http://schemas.openxmlformats.org/officeDocument/2006/relationships/image" Target="../media/image-12-4.png"/><Relationship Id="rId13" Type="http://schemas.openxmlformats.org/officeDocument/2006/relationships/slideLayout" Target="../slideLayouts/slideLayout3.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indent="0" marL="0">
              <a:buNone/>
            </a:pPr>
            <a:r>
              <a:rPr lang="en-US" sz="4400" b="1" dirty="0">
                <a:solidFill>
                  <a:schemeClr val="bg1"/>
                </a:solidFill>
              </a:rPr>
              <a:t>Lifting the Corporate Veil in Saudi Arabia</a:t>
            </a:r>
            <a:endParaRPr lang="en-US" sz="44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A critical and comparative analysis with UK company law</a:t>
            </a:r>
            <a:endParaRPr lang="en-US" sz="2000" dirty="0"/>
          </a:p>
        </p:txBody>
      </p:sp>
      <p:sp>
        <p:nvSpPr>
          <p:cNvPr id="4" name="Text 2"/>
          <p:cNvSpPr txBox="1"/>
          <p:nvPr/>
        </p:nvSpPr>
        <p:spPr>
          <a:xfrm>
            <a:off x="731520" y="1188720"/>
            <a:ext cx="8229600" cy="365760"/>
          </a:xfrm>
          <a:prstGeom prst="rect">
            <a:avLst/>
          </a:prstGeom>
          <a:noFill/>
          <a:ln/>
        </p:spPr>
        <p:txBody>
          <a:bodyPr wrap="square" lIns="0" tIns="0" rIns="0" bIns="0" rtlCol="0" anchor="ctr"/>
          <a:lstStyle/>
          <a:p>
            <a:pPr indent="0" marL="0">
              <a:buNone/>
            </a:pPr>
            <a:r>
              <a:rPr lang="en-US" sz="1300" spc="300" kern="0" dirty="0">
                <a:solidFill>
                  <a:schemeClr val="accent3"/>
                </a:solidFill>
              </a:rPr>
              <a:t>COMPANY LAW 342  ·  PROF. JAWAHITHA SARABDEEN</a:t>
            </a:r>
            <a:endParaRPr lang="en-US" sz="1300" dirty="0"/>
          </a:p>
        </p:txBody>
      </p:sp>
      <p:sp>
        <p:nvSpPr>
          <p:cNvPr id="5" name="Text 3"/>
          <p:cNvSpPr txBox="1"/>
          <p:nvPr/>
        </p:nvSpPr>
        <p:spPr>
          <a:xfrm>
            <a:off x="731520" y="5760720"/>
            <a:ext cx="10058400" cy="365760"/>
          </a:xfrm>
          <a:prstGeom prst="rect">
            <a:avLst/>
          </a:prstGeom>
          <a:noFill/>
          <a:ln/>
        </p:spPr>
        <p:txBody>
          <a:bodyPr wrap="square" lIns="0" tIns="0" rIns="0" bIns="0" rtlCol="0" anchor="ctr"/>
          <a:lstStyle/>
          <a:p>
            <a:pPr indent="0" marL="0">
              <a:buNone/>
            </a:pPr>
            <a:r>
              <a:rPr lang="en-US" sz="1500" dirty="0">
                <a:solidFill>
                  <a:schemeClr val="bg1"/>
                </a:solidFill>
              </a:rPr>
              <a:t>Eman AlFires   ·   Monerah AlSheikh   ·   Nouran AlQahtani</a:t>
            </a:r>
            <a:endParaRPr lang="en-US" sz="1500" dirty="0"/>
          </a:p>
        </p:txBody>
      </p:sp>
      <p:sp>
        <p:nvSpPr>
          <p:cNvPr id="6" name="Shape 4"/>
          <p:cNvSpPr/>
          <p:nvPr/>
        </p:nvSpPr>
        <p:spPr>
          <a:xfrm>
            <a:off x="9692640" y="0"/>
            <a:ext cx="1005840" cy="6858000"/>
          </a:xfrm>
          <a:prstGeom prst="rect">
            <a:avLst/>
          </a:prstGeom>
          <a:solidFill>
            <a:schemeClr val="accent6">
              <a:alpha val="18000"/>
            </a:schemeClr>
          </a:solidFill>
          <a:ln w="12700">
            <a:solidFill>
              <a:schemeClr val="accent6">
                <a:alpha val="0"/>
              </a:schemeClr>
            </a:solidFill>
            <a:prstDash val="solid"/>
          </a:ln>
        </p:spPr>
      </p:sp>
      <p:sp>
        <p:nvSpPr>
          <p:cNvPr id="7" name="Shape 5"/>
          <p:cNvSpPr/>
          <p:nvPr/>
        </p:nvSpPr>
        <p:spPr>
          <a:xfrm>
            <a:off x="10332720" y="0"/>
            <a:ext cx="1005840" cy="6858000"/>
          </a:xfrm>
          <a:prstGeom prst="rect">
            <a:avLst/>
          </a:prstGeom>
          <a:solidFill>
            <a:schemeClr val="accent6">
              <a:alpha val="12000"/>
            </a:schemeClr>
          </a:solidFill>
          <a:ln w="12700">
            <a:solidFill>
              <a:schemeClr val="accent6">
                <a:alpha val="0"/>
              </a:scheme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Roadmap: 15 minutes, three parts</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Eman</a:t>
            </a:r>
            <a:pPr indent="0" marL="0">
              <a:buNone/>
            </a:pPr>
            <a:r>
              <a:rPr lang="en-US" sz="1200" dirty="0">
                <a:solidFill>
                  <a:schemeClr val="tx1"/>
                </a:solidFill>
              </a:rPr>
              <a:t>  0:00 – 5:00</a:t>
            </a:r>
            <a:endParaRPr lang="en-US" sz="1200" dirty="0"/>
          </a:p>
        </p:txBody>
      </p:sp>
      <p:sp>
        <p:nvSpPr>
          <p:cNvPr id="6" name="Part card 01"/>
          <p:cNvSpPr/>
          <p:nvPr/>
        </p:nvSpPr>
        <p:spPr>
          <a:xfrm>
            <a:off x="548640" y="1600200"/>
            <a:ext cx="3474720" cy="40233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Shape 5"/>
          <p:cNvSpPr/>
          <p:nvPr/>
        </p:nvSpPr>
        <p:spPr>
          <a:xfrm>
            <a:off x="868680" y="1920240"/>
            <a:ext cx="822960" cy="822960"/>
          </a:xfrm>
          <a:prstGeom prst="ellipse">
            <a:avLst/>
          </a:prstGeom>
          <a:solidFill>
            <a:srgbClr val="0F6B53"/>
          </a:solidFill>
          <a:ln w="12700">
            <a:solidFill>
              <a:srgbClr val="0F6B53"/>
            </a:solidFill>
            <a:prstDash val="solid"/>
          </a:ln>
        </p:spPr>
      </p:sp>
      <p:pic>
        <p:nvPicPr>
          <p:cNvPr id="8" name="Image 0" descr="preencoded.png">    </p:cNvPr>
          <p:cNvPicPr>
            <a:picLocks noChangeAspect="1"/>
          </p:cNvPicPr>
          <p:nvPr/>
        </p:nvPicPr>
        <p:blipFill>
          <a:blip r:embed="rId1"/>
          <a:stretch>
            <a:fillRect/>
          </a:stretch>
        </p:blipFill>
        <p:spPr>
          <a:xfrm>
            <a:off x="1082650" y="2134210"/>
            <a:ext cx="395021" cy="395021"/>
          </a:xfrm>
          <a:prstGeom prst="rect">
            <a:avLst/>
          </a:prstGeom>
        </p:spPr>
      </p:pic>
      <p:sp>
        <p:nvSpPr>
          <p:cNvPr id="9" name="Text 6"/>
          <p:cNvSpPr txBox="1"/>
          <p:nvPr/>
        </p:nvSpPr>
        <p:spPr>
          <a:xfrm>
            <a:off x="2834640" y="1920240"/>
            <a:ext cx="914400" cy="548640"/>
          </a:xfrm>
          <a:prstGeom prst="rect">
            <a:avLst/>
          </a:prstGeom>
          <a:noFill/>
          <a:ln/>
        </p:spPr>
        <p:txBody>
          <a:bodyPr wrap="square" lIns="0" tIns="0" rIns="0" bIns="0" rtlCol="0" anchor="ctr"/>
          <a:lstStyle/>
          <a:p>
            <a:pPr algn="r" indent="0" marL="0">
              <a:buNone/>
            </a:pPr>
            <a:r>
              <a:rPr lang="en-US" sz="3000" b="1" dirty="0">
                <a:solidFill>
                  <a:schemeClr val="accent5"/>
                </a:solidFill>
                <a:latin typeface="Cambria" pitchFamily="34" charset="0"/>
                <a:ea typeface="Cambria" pitchFamily="34" charset="-122"/>
                <a:cs typeface="Cambria" pitchFamily="34" charset="-120"/>
              </a:rPr>
              <a:t>01</a:t>
            </a:r>
            <a:endParaRPr lang="en-US" sz="3000" dirty="0"/>
          </a:p>
        </p:txBody>
      </p:sp>
      <p:sp>
        <p:nvSpPr>
          <p:cNvPr id="10" name="Text 7"/>
          <p:cNvSpPr txBox="1"/>
          <p:nvPr/>
        </p:nvSpPr>
        <p:spPr>
          <a:xfrm>
            <a:off x="868680" y="2971800"/>
            <a:ext cx="28346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Foundations</a:t>
            </a:r>
            <a:endParaRPr lang="en-US" sz="2200" dirty="0"/>
          </a:p>
        </p:txBody>
      </p:sp>
      <p:sp>
        <p:nvSpPr>
          <p:cNvPr id="11" name="Text 8"/>
          <p:cNvSpPr txBox="1"/>
          <p:nvPr/>
        </p:nvSpPr>
        <p:spPr>
          <a:xfrm>
            <a:off x="868680" y="3794760"/>
            <a:ext cx="2834640" cy="914400"/>
          </a:xfrm>
          <a:prstGeom prst="rect">
            <a:avLst/>
          </a:prstGeom>
          <a:noFill/>
          <a:ln/>
        </p:spPr>
        <p:txBody>
          <a:bodyPr wrap="square" lIns="0" tIns="0" rIns="0" bIns="0" rtlCol="0" anchor="t"/>
          <a:lstStyle/>
          <a:p>
            <a:pPr indent="0" marL="0">
              <a:buNone/>
            </a:pPr>
            <a:r>
              <a:rPr lang="en-US" sz="1500" dirty="0">
                <a:solidFill>
                  <a:schemeClr val="tx1"/>
                </a:solidFill>
              </a:rPr>
              <a:t>Separate personality, limited liability and Salomon</a:t>
            </a:r>
            <a:endParaRPr lang="en-US" sz="1500" dirty="0"/>
          </a:p>
        </p:txBody>
      </p:sp>
      <p:sp>
        <p:nvSpPr>
          <p:cNvPr id="12" name="Text 9"/>
          <p:cNvSpPr txBox="1"/>
          <p:nvPr/>
        </p:nvSpPr>
        <p:spPr>
          <a:xfrm>
            <a:off x="868680" y="4754880"/>
            <a:ext cx="2103120" cy="457200"/>
          </a:xfrm>
          <a:prstGeom prst="rect">
            <a:avLst/>
          </a:prstGeom>
          <a:noFill/>
          <a:ln/>
        </p:spPr>
        <p:txBody>
          <a:bodyPr wrap="square" lIns="0" tIns="0" rIns="0" bIns="0" rtlCol="0" anchor="ctr"/>
          <a:lstStyle/>
          <a:p>
            <a:pPr indent="0" marL="0">
              <a:buNone/>
            </a:pPr>
            <a:r>
              <a:rPr lang="en-US" sz="1300" b="1" dirty="0">
                <a:solidFill>
                  <a:schemeClr val="accent5"/>
                </a:solidFill>
              </a:rPr>
              <a:t>Eman  ·  0:00 – 5:00</a:t>
            </a:r>
            <a:endParaRPr lang="en-US" sz="1300" dirty="0"/>
          </a:p>
        </p:txBody>
      </p:sp>
      <p:sp>
        <p:nvSpPr>
          <p:cNvPr id="13" name="Text 10"/>
          <p:cNvSpPr txBox="1"/>
          <p:nvPr/>
        </p:nvSpPr>
        <p:spPr>
          <a:xfrm>
            <a:off x="2880360" y="4754880"/>
            <a:ext cx="868680" cy="457200"/>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2" action="ppaction://hlinksldjump" tooltip="Go to Foundations">
                  <a:extLst>
                    <a:ext uri="{A12FA001-AC4F-418D-AE19-62706E023703}">
                      <ahyp:hlinkClr xmlns:ahyp="http://schemas.microsoft.com/office/drawing/2018/hyperlinkcolor" val="tx"/>
                    </a:ext>
                  </a:extLst>
                </a:hlinkClick>
              </a:rPr>
              <a:t>Jump  ›</a:t>
            </a:r>
            <a:endParaRPr lang="en-US" sz="1300" dirty="0"/>
          </a:p>
        </p:txBody>
      </p:sp>
      <p:sp>
        <p:nvSpPr>
          <p:cNvPr id="14" name="Part card 02"/>
          <p:cNvSpPr/>
          <p:nvPr/>
        </p:nvSpPr>
        <p:spPr>
          <a:xfrm>
            <a:off x="4297680" y="1600200"/>
            <a:ext cx="3474720" cy="40233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5" name="Shape 12"/>
          <p:cNvSpPr/>
          <p:nvPr/>
        </p:nvSpPr>
        <p:spPr>
          <a:xfrm>
            <a:off x="4617720" y="1920240"/>
            <a:ext cx="822960" cy="822960"/>
          </a:xfrm>
          <a:prstGeom prst="ellipse">
            <a:avLst/>
          </a:prstGeom>
          <a:solidFill>
            <a:srgbClr val="2F3C7E"/>
          </a:solidFill>
          <a:ln w="12700">
            <a:solidFill>
              <a:srgbClr val="2F3C7E"/>
            </a:solidFill>
            <a:prstDash val="solid"/>
          </a:ln>
        </p:spPr>
      </p:sp>
      <p:pic>
        <p:nvPicPr>
          <p:cNvPr id="16" name="Image 1" descr="preencoded.png">    </p:cNvPr>
          <p:cNvPicPr>
            <a:picLocks noChangeAspect="1"/>
          </p:cNvPicPr>
          <p:nvPr/>
        </p:nvPicPr>
        <p:blipFill>
          <a:blip r:embed="rId3"/>
          <a:stretch>
            <a:fillRect/>
          </a:stretch>
        </p:blipFill>
        <p:spPr>
          <a:xfrm>
            <a:off x="4831690" y="2134210"/>
            <a:ext cx="395021" cy="395021"/>
          </a:xfrm>
          <a:prstGeom prst="rect">
            <a:avLst/>
          </a:prstGeom>
        </p:spPr>
      </p:pic>
      <p:sp>
        <p:nvSpPr>
          <p:cNvPr id="17" name="Text 13"/>
          <p:cNvSpPr txBox="1"/>
          <p:nvPr/>
        </p:nvSpPr>
        <p:spPr>
          <a:xfrm>
            <a:off x="6583680" y="1920240"/>
            <a:ext cx="914400" cy="548640"/>
          </a:xfrm>
          <a:prstGeom prst="rect">
            <a:avLst/>
          </a:prstGeom>
          <a:noFill/>
          <a:ln/>
        </p:spPr>
        <p:txBody>
          <a:bodyPr wrap="square" lIns="0" tIns="0" rIns="0" bIns="0" rtlCol="0" anchor="ctr"/>
          <a:lstStyle/>
          <a:p>
            <a:pPr algn="r" indent="0" marL="0">
              <a:buNone/>
            </a:pPr>
            <a:r>
              <a:rPr lang="en-US" sz="3000" b="1" dirty="0">
                <a:solidFill>
                  <a:schemeClr val="accent5"/>
                </a:solidFill>
                <a:latin typeface="Cambria" pitchFamily="34" charset="0"/>
                <a:ea typeface="Cambria" pitchFamily="34" charset="-122"/>
                <a:cs typeface="Cambria" pitchFamily="34" charset="-120"/>
              </a:rPr>
              <a:t>02</a:t>
            </a:r>
            <a:endParaRPr lang="en-US" sz="3000" dirty="0"/>
          </a:p>
        </p:txBody>
      </p:sp>
      <p:sp>
        <p:nvSpPr>
          <p:cNvPr id="18" name="Text 14"/>
          <p:cNvSpPr txBox="1"/>
          <p:nvPr/>
        </p:nvSpPr>
        <p:spPr>
          <a:xfrm>
            <a:off x="4617720" y="2971800"/>
            <a:ext cx="28346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The two legal frameworks</a:t>
            </a:r>
            <a:endParaRPr lang="en-US" sz="2200" dirty="0"/>
          </a:p>
        </p:txBody>
      </p:sp>
      <p:sp>
        <p:nvSpPr>
          <p:cNvPr id="19" name="Text 15"/>
          <p:cNvSpPr txBox="1"/>
          <p:nvPr/>
        </p:nvSpPr>
        <p:spPr>
          <a:xfrm>
            <a:off x="4617720" y="3794760"/>
            <a:ext cx="2834640" cy="914400"/>
          </a:xfrm>
          <a:prstGeom prst="rect">
            <a:avLst/>
          </a:prstGeom>
          <a:noFill/>
          <a:ln/>
        </p:spPr>
        <p:txBody>
          <a:bodyPr wrap="square" lIns="0" tIns="0" rIns="0" bIns="0" rtlCol="0" anchor="t"/>
          <a:lstStyle/>
          <a:p>
            <a:pPr indent="0" marL="0">
              <a:buNone/>
            </a:pPr>
            <a:r>
              <a:rPr lang="en-US" sz="1500" dirty="0">
                <a:solidFill>
                  <a:schemeClr val="tx1"/>
                </a:solidFill>
              </a:rPr>
              <a:t>Saudi Companies Law 2022 and the UK statute + case law route</a:t>
            </a:r>
            <a:endParaRPr lang="en-US" sz="1500" dirty="0"/>
          </a:p>
        </p:txBody>
      </p:sp>
      <p:sp>
        <p:nvSpPr>
          <p:cNvPr id="20" name="Text 16"/>
          <p:cNvSpPr txBox="1"/>
          <p:nvPr/>
        </p:nvSpPr>
        <p:spPr>
          <a:xfrm>
            <a:off x="4617720" y="4754880"/>
            <a:ext cx="2103120" cy="457200"/>
          </a:xfrm>
          <a:prstGeom prst="rect">
            <a:avLst/>
          </a:prstGeom>
          <a:noFill/>
          <a:ln/>
        </p:spPr>
        <p:txBody>
          <a:bodyPr wrap="square" lIns="0" tIns="0" rIns="0" bIns="0" rtlCol="0" anchor="ctr"/>
          <a:lstStyle/>
          <a:p>
            <a:pPr indent="0" marL="0">
              <a:buNone/>
            </a:pPr>
            <a:r>
              <a:rPr lang="en-US" sz="1300" b="1" dirty="0">
                <a:solidFill>
                  <a:schemeClr val="accent5"/>
                </a:solidFill>
              </a:rPr>
              <a:t>Monerah  ·  5:00 – 10:00</a:t>
            </a:r>
            <a:endParaRPr lang="en-US" sz="1300" dirty="0"/>
          </a:p>
        </p:txBody>
      </p:sp>
      <p:sp>
        <p:nvSpPr>
          <p:cNvPr id="21" name="Text 17"/>
          <p:cNvSpPr txBox="1"/>
          <p:nvPr/>
        </p:nvSpPr>
        <p:spPr>
          <a:xfrm>
            <a:off x="6629400" y="4754880"/>
            <a:ext cx="868680" cy="457200"/>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4" action="ppaction://hlinksldjump" tooltip="Go to The two legal frameworks">
                  <a:extLst>
                    <a:ext uri="{A12FA001-AC4F-418D-AE19-62706E023703}">
                      <ahyp:hlinkClr xmlns:ahyp="http://schemas.microsoft.com/office/drawing/2018/hyperlinkcolor" val="tx"/>
                    </a:ext>
                  </a:extLst>
                </a:hlinkClick>
              </a:rPr>
              <a:t>Jump  ›</a:t>
            </a:r>
            <a:endParaRPr lang="en-US" sz="1300" dirty="0"/>
          </a:p>
        </p:txBody>
      </p:sp>
      <p:sp>
        <p:nvSpPr>
          <p:cNvPr id="22" name="Part card 03"/>
          <p:cNvSpPr/>
          <p:nvPr/>
        </p:nvSpPr>
        <p:spPr>
          <a:xfrm>
            <a:off x="8046720" y="1600200"/>
            <a:ext cx="3474720" cy="4023360"/>
          </a:xfrm>
          <a:prstGeom prst="roundRect">
            <a:avLst>
              <a:gd name="adj" fmla="val 315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23" name="Shape 19"/>
          <p:cNvSpPr/>
          <p:nvPr/>
        </p:nvSpPr>
        <p:spPr>
          <a:xfrm>
            <a:off x="8366760" y="1920240"/>
            <a:ext cx="822960" cy="822960"/>
          </a:xfrm>
          <a:prstGeom prst="ellipse">
            <a:avLst/>
          </a:prstGeom>
          <a:solidFill>
            <a:srgbClr val="C9A227"/>
          </a:solidFill>
          <a:ln w="12700">
            <a:solidFill>
              <a:srgbClr val="C9A227"/>
            </a:solidFill>
            <a:prstDash val="solid"/>
          </a:ln>
        </p:spPr>
      </p:sp>
      <p:pic>
        <p:nvPicPr>
          <p:cNvPr id="24" name="Image 2" descr="preencoded.png">    </p:cNvPr>
          <p:cNvPicPr>
            <a:picLocks noChangeAspect="1"/>
          </p:cNvPicPr>
          <p:nvPr/>
        </p:nvPicPr>
        <p:blipFill>
          <a:blip r:embed="rId5"/>
          <a:stretch>
            <a:fillRect/>
          </a:stretch>
        </p:blipFill>
        <p:spPr>
          <a:xfrm>
            <a:off x="8580730" y="2134210"/>
            <a:ext cx="395021" cy="395021"/>
          </a:xfrm>
          <a:prstGeom prst="rect">
            <a:avLst/>
          </a:prstGeom>
        </p:spPr>
      </p:pic>
      <p:sp>
        <p:nvSpPr>
          <p:cNvPr id="25" name="Text 20"/>
          <p:cNvSpPr txBox="1"/>
          <p:nvPr/>
        </p:nvSpPr>
        <p:spPr>
          <a:xfrm>
            <a:off x="10332720" y="1920240"/>
            <a:ext cx="914400" cy="548640"/>
          </a:xfrm>
          <a:prstGeom prst="rect">
            <a:avLst/>
          </a:prstGeom>
          <a:noFill/>
          <a:ln/>
        </p:spPr>
        <p:txBody>
          <a:bodyPr wrap="square" lIns="0" tIns="0" rIns="0" bIns="0" rtlCol="0" anchor="ctr"/>
          <a:lstStyle/>
          <a:p>
            <a:pPr algn="r" indent="0" marL="0">
              <a:buNone/>
            </a:pPr>
            <a:r>
              <a:rPr lang="en-US" sz="3000" b="1" dirty="0">
                <a:solidFill>
                  <a:schemeClr val="accent5"/>
                </a:solidFill>
                <a:latin typeface="Cambria" pitchFamily="34" charset="0"/>
                <a:ea typeface="Cambria" pitchFamily="34" charset="-122"/>
                <a:cs typeface="Cambria" pitchFamily="34" charset="-120"/>
              </a:rPr>
              <a:t>03</a:t>
            </a:r>
            <a:endParaRPr lang="en-US" sz="3000" dirty="0"/>
          </a:p>
        </p:txBody>
      </p:sp>
      <p:sp>
        <p:nvSpPr>
          <p:cNvPr id="26" name="Text 21"/>
          <p:cNvSpPr txBox="1"/>
          <p:nvPr/>
        </p:nvSpPr>
        <p:spPr>
          <a:xfrm>
            <a:off x="8366760" y="2971800"/>
            <a:ext cx="283464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Comparison and verdict</a:t>
            </a:r>
            <a:endParaRPr lang="en-US" sz="2200" dirty="0"/>
          </a:p>
        </p:txBody>
      </p:sp>
      <p:sp>
        <p:nvSpPr>
          <p:cNvPr id="27" name="Text 22"/>
          <p:cNvSpPr txBox="1"/>
          <p:nvPr/>
        </p:nvSpPr>
        <p:spPr>
          <a:xfrm>
            <a:off x="8366760" y="3794760"/>
            <a:ext cx="2834640" cy="914400"/>
          </a:xfrm>
          <a:prstGeom prst="rect">
            <a:avLst/>
          </a:prstGeom>
          <a:noFill/>
          <a:ln/>
        </p:spPr>
        <p:txBody>
          <a:bodyPr wrap="square" lIns="0" tIns="0" rIns="0" bIns="0" rtlCol="0" anchor="t"/>
          <a:lstStyle/>
          <a:p>
            <a:pPr indent="0" marL="0">
              <a:buNone/>
            </a:pPr>
            <a:r>
              <a:rPr lang="en-US" sz="1500" dirty="0">
                <a:solidFill>
                  <a:schemeClr val="tx1"/>
                </a:solidFill>
              </a:rPr>
              <a:t>Side by side, a live 'pierce or not?' test, critique, conclusion</a:t>
            </a:r>
            <a:endParaRPr lang="en-US" sz="1500" dirty="0"/>
          </a:p>
        </p:txBody>
      </p:sp>
      <p:sp>
        <p:nvSpPr>
          <p:cNvPr id="28" name="Text 23"/>
          <p:cNvSpPr txBox="1"/>
          <p:nvPr/>
        </p:nvSpPr>
        <p:spPr>
          <a:xfrm>
            <a:off x="8366760" y="4754880"/>
            <a:ext cx="2103120" cy="457200"/>
          </a:xfrm>
          <a:prstGeom prst="rect">
            <a:avLst/>
          </a:prstGeom>
          <a:noFill/>
          <a:ln/>
        </p:spPr>
        <p:txBody>
          <a:bodyPr wrap="square" lIns="0" tIns="0" rIns="0" bIns="0" rtlCol="0" anchor="ctr"/>
          <a:lstStyle/>
          <a:p>
            <a:pPr indent="0" marL="0">
              <a:buNone/>
            </a:pPr>
            <a:r>
              <a:rPr lang="en-US" sz="1300" b="1" dirty="0">
                <a:solidFill>
                  <a:schemeClr val="accent5"/>
                </a:solidFill>
              </a:rPr>
              <a:t>Nouran  ·  10:00 – 15:00</a:t>
            </a:r>
            <a:endParaRPr lang="en-US" sz="1300" dirty="0"/>
          </a:p>
        </p:txBody>
      </p:sp>
      <p:sp>
        <p:nvSpPr>
          <p:cNvPr id="29" name="Text 24"/>
          <p:cNvSpPr txBox="1"/>
          <p:nvPr/>
        </p:nvSpPr>
        <p:spPr>
          <a:xfrm>
            <a:off x="10378440" y="4754880"/>
            <a:ext cx="868680" cy="457200"/>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6" action="ppaction://hlinksldjump" tooltip="Go to Comparison and verdict">
                  <a:extLst>
                    <a:ext uri="{A12FA001-AC4F-418D-AE19-62706E023703}">
                      <ahyp:hlinkClr xmlns:ahyp="http://schemas.microsoft.com/office/drawing/2018/hyperlinkcolor" val="tx"/>
                    </a:ext>
                  </a:extLst>
                </a:hlinkClick>
              </a:rPr>
              <a:t>Jump  ›</a:t>
            </a:r>
            <a:endParaRPr lang="en-US" sz="1300" dirty="0"/>
          </a:p>
        </p:txBody>
      </p:sp>
      <p:sp>
        <p:nvSpPr>
          <p:cNvPr id="30" name="Text 25"/>
          <p:cNvSpPr txBox="1"/>
          <p:nvPr/>
        </p:nvSpPr>
        <p:spPr>
          <a:xfrm>
            <a:off x="548640" y="5852160"/>
            <a:ext cx="10058400" cy="365760"/>
          </a:xfrm>
          <a:prstGeom prst="rect">
            <a:avLst/>
          </a:prstGeom>
          <a:noFill/>
          <a:ln/>
        </p:spPr>
        <p:txBody>
          <a:bodyPr wrap="square" lIns="0" tIns="0" rIns="0" bIns="0" rtlCol="0" anchor="ctr"/>
          <a:lstStyle/>
          <a:p>
            <a:pPr indent="0" marL="0">
              <a:buNone/>
            </a:pPr>
            <a:r>
              <a:rPr lang="en-US" sz="1200" i="1" dirty="0">
                <a:solidFill>
                  <a:schemeClr val="accent5"/>
                </a:solidFill>
              </a:rPr>
              <a:t>Tip: every 'Jump' link and scenario card in this deck is clickable in Slide Show mode.</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One company, two sets of interests</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Eman</a:t>
            </a:r>
            <a:pPr indent="0" marL="0">
              <a:buNone/>
            </a:pPr>
            <a:r>
              <a:rPr lang="en-US" sz="1200" dirty="0">
                <a:solidFill>
                  <a:schemeClr val="tx1"/>
                </a:solidFill>
              </a:rPr>
              <a:t>  0:00 – 5:00</a:t>
            </a:r>
            <a:endParaRPr lang="en-US" sz="1200" dirty="0"/>
          </a:p>
        </p:txBody>
      </p:sp>
      <p:sp>
        <p:nvSpPr>
          <p:cNvPr id="6" name="Shape 4"/>
          <p:cNvSpPr/>
          <p:nvPr/>
        </p:nvSpPr>
        <p:spPr>
          <a:xfrm>
            <a:off x="548640" y="1828800"/>
            <a:ext cx="310896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Shape 5"/>
          <p:cNvSpPr/>
          <p:nvPr/>
        </p:nvSpPr>
        <p:spPr>
          <a:xfrm>
            <a:off x="1691640" y="2057400"/>
            <a:ext cx="822960" cy="822960"/>
          </a:xfrm>
          <a:prstGeom prst="ellipse">
            <a:avLst/>
          </a:prstGeom>
          <a:solidFill>
            <a:srgbClr val="5C6B73"/>
          </a:solidFill>
          <a:ln w="12700">
            <a:solidFill>
              <a:srgbClr val="5C6B73"/>
            </a:solidFill>
            <a:prstDash val="solid"/>
          </a:ln>
        </p:spPr>
      </p:sp>
      <p:pic>
        <p:nvPicPr>
          <p:cNvPr id="8" name="Image 0" descr="preencoded.png">    </p:cNvPr>
          <p:cNvPicPr>
            <a:picLocks noChangeAspect="1"/>
          </p:cNvPicPr>
          <p:nvPr/>
        </p:nvPicPr>
        <p:blipFill>
          <a:blip r:embed="rId1"/>
          <a:stretch>
            <a:fillRect/>
          </a:stretch>
        </p:blipFill>
        <p:spPr>
          <a:xfrm>
            <a:off x="1905610" y="2271370"/>
            <a:ext cx="395021" cy="395021"/>
          </a:xfrm>
          <a:prstGeom prst="rect">
            <a:avLst/>
          </a:prstGeom>
        </p:spPr>
      </p:pic>
      <p:sp>
        <p:nvSpPr>
          <p:cNvPr id="9" name="Text 6"/>
          <p:cNvSpPr txBox="1"/>
          <p:nvPr/>
        </p:nvSpPr>
        <p:spPr>
          <a:xfrm>
            <a:off x="731520" y="2971800"/>
            <a:ext cx="2743200" cy="777240"/>
          </a:xfrm>
          <a:prstGeom prst="rect">
            <a:avLst/>
          </a:prstGeom>
          <a:noFill/>
          <a:ln/>
        </p:spPr>
        <p:txBody>
          <a:bodyPr wrap="square" lIns="0" tIns="0" rIns="0" bIns="0" rtlCol="0" anchor="ctr"/>
          <a:lstStyle/>
          <a:p>
            <a:pPr algn="ctr" indent="0" marL="0">
              <a:buNone/>
            </a:pPr>
            <a:r>
              <a:rPr lang="en-US" sz="1600" b="1" dirty="0">
                <a:solidFill>
                  <a:schemeClr val="tx1"/>
                </a:solidFill>
              </a:rPr>
              <a:t>Shareholders</a:t>
            </a:r>
            <a:endParaRPr lang="en-US" sz="1600" dirty="0"/>
          </a:p>
          <a:p>
            <a:pPr algn="ctr" indent="0" marL="0">
              <a:buNone/>
            </a:pPr>
            <a:r>
              <a:rPr lang="en-US" sz="1600" b="1" dirty="0">
                <a:solidFill>
                  <a:schemeClr val="tx1"/>
                </a:solidFill>
              </a:rPr>
              <a:t>&amp; directors</a:t>
            </a:r>
            <a:endParaRPr lang="en-US" sz="1600" dirty="0"/>
          </a:p>
        </p:txBody>
      </p:sp>
      <p:sp>
        <p:nvSpPr>
          <p:cNvPr id="10" name="Shape 7"/>
          <p:cNvSpPr/>
          <p:nvPr/>
        </p:nvSpPr>
        <p:spPr>
          <a:xfrm>
            <a:off x="4343400" y="1828800"/>
            <a:ext cx="310896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Shape 8"/>
          <p:cNvSpPr/>
          <p:nvPr/>
        </p:nvSpPr>
        <p:spPr>
          <a:xfrm>
            <a:off x="5486400" y="2057400"/>
            <a:ext cx="822960" cy="822960"/>
          </a:xfrm>
          <a:prstGeom prst="ellipse">
            <a:avLst/>
          </a:prstGeom>
          <a:solidFill>
            <a:srgbClr val="0F6B53"/>
          </a:solidFill>
          <a:ln w="12700">
            <a:solidFill>
              <a:srgbClr val="0F6B53"/>
            </a:solidFill>
            <a:prstDash val="solid"/>
          </a:ln>
        </p:spPr>
      </p:sp>
      <p:pic>
        <p:nvPicPr>
          <p:cNvPr id="12" name="Image 1" descr="preencoded.png">    </p:cNvPr>
          <p:cNvPicPr>
            <a:picLocks noChangeAspect="1"/>
          </p:cNvPicPr>
          <p:nvPr/>
        </p:nvPicPr>
        <p:blipFill>
          <a:blip r:embed="rId2"/>
          <a:stretch>
            <a:fillRect/>
          </a:stretch>
        </p:blipFill>
        <p:spPr>
          <a:xfrm>
            <a:off x="5700370" y="2271370"/>
            <a:ext cx="395021" cy="395021"/>
          </a:xfrm>
          <a:prstGeom prst="rect">
            <a:avLst/>
          </a:prstGeom>
        </p:spPr>
      </p:pic>
      <p:sp>
        <p:nvSpPr>
          <p:cNvPr id="13" name="Text 9"/>
          <p:cNvSpPr txBox="1"/>
          <p:nvPr/>
        </p:nvSpPr>
        <p:spPr>
          <a:xfrm>
            <a:off x="4526280" y="2971800"/>
            <a:ext cx="2743200" cy="777240"/>
          </a:xfrm>
          <a:prstGeom prst="rect">
            <a:avLst/>
          </a:prstGeom>
          <a:noFill/>
          <a:ln/>
        </p:spPr>
        <p:txBody>
          <a:bodyPr wrap="square" lIns="0" tIns="0" rIns="0" bIns="0" rtlCol="0" anchor="ctr"/>
          <a:lstStyle/>
          <a:p>
            <a:pPr algn="ctr" indent="0" marL="0">
              <a:buNone/>
            </a:pPr>
            <a:r>
              <a:rPr lang="en-US" sz="1600" b="1" dirty="0">
                <a:solidFill>
                  <a:schemeClr val="tx1"/>
                </a:solidFill>
              </a:rPr>
              <a:t>The company</a:t>
            </a:r>
            <a:endParaRPr lang="en-US" sz="1600" dirty="0"/>
          </a:p>
          <a:p>
            <a:pPr algn="ctr" indent="0" marL="0">
              <a:buNone/>
            </a:pPr>
            <a:r>
              <a:rPr lang="en-US" sz="1600" b="1" dirty="0">
                <a:solidFill>
                  <a:schemeClr val="tx1"/>
                </a:solidFill>
              </a:rPr>
              <a:t>(separate person)</a:t>
            </a:r>
            <a:endParaRPr lang="en-US" sz="1600" dirty="0"/>
          </a:p>
        </p:txBody>
      </p:sp>
      <p:sp>
        <p:nvSpPr>
          <p:cNvPr id="14" name="Shape 10"/>
          <p:cNvSpPr/>
          <p:nvPr/>
        </p:nvSpPr>
        <p:spPr>
          <a:xfrm>
            <a:off x="8138160" y="1828800"/>
            <a:ext cx="310896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5" name="Shape 11"/>
          <p:cNvSpPr/>
          <p:nvPr/>
        </p:nvSpPr>
        <p:spPr>
          <a:xfrm>
            <a:off x="9281160" y="2057400"/>
            <a:ext cx="822960" cy="822960"/>
          </a:xfrm>
          <a:prstGeom prst="ellipse">
            <a:avLst/>
          </a:prstGeom>
          <a:solidFill>
            <a:srgbClr val="2F3C7E"/>
          </a:solidFill>
          <a:ln w="12700">
            <a:solidFill>
              <a:srgbClr val="2F3C7E"/>
            </a:solidFill>
            <a:prstDash val="solid"/>
          </a:ln>
        </p:spPr>
      </p:sp>
      <p:pic>
        <p:nvPicPr>
          <p:cNvPr id="16" name="Image 2" descr="preencoded.png">    </p:cNvPr>
          <p:cNvPicPr>
            <a:picLocks noChangeAspect="1"/>
          </p:cNvPicPr>
          <p:nvPr/>
        </p:nvPicPr>
        <p:blipFill>
          <a:blip r:embed="rId3"/>
          <a:stretch>
            <a:fillRect/>
          </a:stretch>
        </p:blipFill>
        <p:spPr>
          <a:xfrm>
            <a:off x="9495130" y="2271370"/>
            <a:ext cx="395021" cy="395021"/>
          </a:xfrm>
          <a:prstGeom prst="rect">
            <a:avLst/>
          </a:prstGeom>
        </p:spPr>
      </p:pic>
      <p:sp>
        <p:nvSpPr>
          <p:cNvPr id="17" name="Text 12"/>
          <p:cNvSpPr txBox="1"/>
          <p:nvPr/>
        </p:nvSpPr>
        <p:spPr>
          <a:xfrm>
            <a:off x="8321040" y="2971800"/>
            <a:ext cx="2743200" cy="777240"/>
          </a:xfrm>
          <a:prstGeom prst="rect">
            <a:avLst/>
          </a:prstGeom>
          <a:noFill/>
          <a:ln/>
        </p:spPr>
        <p:txBody>
          <a:bodyPr wrap="square" lIns="0" tIns="0" rIns="0" bIns="0" rtlCol="0" anchor="ctr"/>
          <a:lstStyle/>
          <a:p>
            <a:pPr algn="ctr" indent="0" marL="0">
              <a:buNone/>
            </a:pPr>
            <a:r>
              <a:rPr lang="en-US" sz="1600" b="1" dirty="0">
                <a:solidFill>
                  <a:schemeClr val="tx1"/>
                </a:solidFill>
              </a:rPr>
              <a:t>Creditors &amp;</a:t>
            </a:r>
            <a:endParaRPr lang="en-US" sz="1600" dirty="0"/>
          </a:p>
          <a:p>
            <a:pPr algn="ctr" indent="0" marL="0">
              <a:buNone/>
            </a:pPr>
            <a:r>
              <a:rPr lang="en-US" sz="1600" b="1" dirty="0">
                <a:solidFill>
                  <a:schemeClr val="tx1"/>
                </a:solidFill>
              </a:rPr>
              <a:t>third parties</a:t>
            </a:r>
            <a:endParaRPr lang="en-US" sz="1600" dirty="0"/>
          </a:p>
        </p:txBody>
      </p:sp>
      <p:sp>
        <p:nvSpPr>
          <p:cNvPr id="18" name="Veil"/>
          <p:cNvSpPr/>
          <p:nvPr/>
        </p:nvSpPr>
        <p:spPr>
          <a:xfrm>
            <a:off x="3767328" y="1554480"/>
            <a:ext cx="457200" cy="2560320"/>
          </a:xfrm>
          <a:prstGeom prst="rect">
            <a:avLst/>
          </a:prstGeom>
          <a:solidFill>
            <a:schemeClr val="accent3">
              <a:alpha val="55000"/>
            </a:schemeClr>
          </a:solidFill>
          <a:ln w="12700">
            <a:solidFill>
              <a:schemeClr val="accent3">
                <a:alpha val="0"/>
              </a:schemeClr>
            </a:solidFill>
            <a:prstDash val="solid"/>
          </a:ln>
        </p:spPr>
      </p:sp>
      <p:sp>
        <p:nvSpPr>
          <p:cNvPr id="19" name="Text 14"/>
          <p:cNvSpPr txBox="1"/>
          <p:nvPr/>
        </p:nvSpPr>
        <p:spPr>
          <a:xfrm>
            <a:off x="3108960" y="4160520"/>
            <a:ext cx="1783080" cy="320040"/>
          </a:xfrm>
          <a:prstGeom prst="rect">
            <a:avLst/>
          </a:prstGeom>
          <a:noFill/>
          <a:ln/>
        </p:spPr>
        <p:txBody>
          <a:bodyPr wrap="square" lIns="0" tIns="0" rIns="0" bIns="0" rtlCol="0" anchor="ctr"/>
          <a:lstStyle/>
          <a:p>
            <a:pPr algn="ctr" indent="0" marL="0">
              <a:buNone/>
            </a:pPr>
            <a:r>
              <a:rPr lang="en-US" sz="1200" b="1" spc="200" kern="0" dirty="0">
                <a:solidFill>
                  <a:schemeClr val="accent3"/>
                </a:solidFill>
              </a:rPr>
              <a:t>THE VEIL</a:t>
            </a:r>
            <a:endParaRPr lang="en-US" sz="1200" dirty="0"/>
          </a:p>
        </p:txBody>
      </p:sp>
      <p:sp>
        <p:nvSpPr>
          <p:cNvPr id="20" name="Shape 15"/>
          <p:cNvSpPr/>
          <p:nvPr/>
        </p:nvSpPr>
        <p:spPr>
          <a:xfrm>
            <a:off x="7498080" y="2834640"/>
            <a:ext cx="594360" cy="0"/>
          </a:xfrm>
          <a:prstGeom prst="line">
            <a:avLst/>
          </a:prstGeom>
          <a:noFill/>
          <a:ln w="25400">
            <a:solidFill>
              <a:srgbClr val="2F3C7E"/>
            </a:solidFill>
            <a:prstDash val="solid"/>
            <a:headEnd type="triangle"/>
          </a:ln>
        </p:spPr>
      </p:sp>
      <p:sp>
        <p:nvSpPr>
          <p:cNvPr id="21" name="Text 16"/>
          <p:cNvSpPr txBox="1"/>
          <p:nvPr/>
        </p:nvSpPr>
        <p:spPr>
          <a:xfrm>
            <a:off x="7452360" y="3931920"/>
            <a:ext cx="3840480" cy="320040"/>
          </a:xfrm>
          <a:prstGeom prst="rect">
            <a:avLst/>
          </a:prstGeom>
          <a:noFill/>
          <a:ln/>
        </p:spPr>
        <p:txBody>
          <a:bodyPr wrap="square" lIns="0" tIns="0" rIns="0" bIns="0" rtlCol="0" anchor="ctr"/>
          <a:lstStyle/>
          <a:p>
            <a:pPr algn="ctr" indent="0" marL="0">
              <a:buNone/>
            </a:pPr>
            <a:r>
              <a:rPr lang="en-US" sz="1200" i="1" dirty="0">
                <a:solidFill>
                  <a:schemeClr val="accent5"/>
                </a:solidFill>
              </a:rPr>
              <a:t>claims stop at the company</a:t>
            </a:r>
            <a:endParaRPr lang="en-US" sz="1200" dirty="0"/>
          </a:p>
        </p:txBody>
      </p:sp>
      <p:sp>
        <p:nvSpPr>
          <p:cNvPr id="22" name="Shape 17"/>
          <p:cNvSpPr/>
          <p:nvPr/>
        </p:nvSpPr>
        <p:spPr>
          <a:xfrm>
            <a:off x="548640" y="4800600"/>
            <a:ext cx="11064240" cy="1325880"/>
          </a:xfrm>
          <a:prstGeom prst="roundRect">
            <a:avLst>
              <a:gd name="adj" fmla="val 6897"/>
            </a:avLst>
          </a:prstGeom>
          <a:solidFill>
            <a:schemeClr val="tx1"/>
          </a:solidFill>
          <a:ln w="12700">
            <a:solidFill>
              <a:schemeClr val="tx1"/>
            </a:solidFill>
            <a:prstDash val="solid"/>
          </a:ln>
        </p:spPr>
      </p:sp>
      <p:sp>
        <p:nvSpPr>
          <p:cNvPr id="23" name="Text 18"/>
          <p:cNvSpPr txBox="1"/>
          <p:nvPr/>
        </p:nvSpPr>
        <p:spPr>
          <a:xfrm>
            <a:off x="822960" y="4846320"/>
            <a:ext cx="10515600" cy="1234440"/>
          </a:xfrm>
          <a:prstGeom prst="rect">
            <a:avLst/>
          </a:prstGeom>
          <a:noFill/>
          <a:ln/>
        </p:spPr>
        <p:txBody>
          <a:bodyPr wrap="square" lIns="0" tIns="0" rIns="0" bIns="0" rtlCol="0" anchor="ctr"/>
          <a:lstStyle/>
          <a:p>
            <a:pPr indent="0" marL="0">
              <a:buNone/>
            </a:pPr>
            <a:r>
              <a:rPr lang="en-US" sz="1700" b="1" dirty="0">
                <a:solidFill>
                  <a:schemeClr val="accent3"/>
                </a:solidFill>
              </a:rPr>
              <a:t>Research question  </a:t>
            </a:r>
            <a:pPr indent="0" marL="0">
              <a:buNone/>
            </a:pPr>
            <a:r>
              <a:rPr lang="en-US" sz="1700" dirty="0">
                <a:solidFill>
                  <a:schemeClr val="bg1"/>
                </a:solidFill>
              </a:rPr>
              <a:t>How do Saudi law and UK law balance a company's independence against the risk that the people behind it misuse that independence to escape personal liability?</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Two ideas that are often confused</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Eman</a:t>
            </a:r>
            <a:pPr indent="0" marL="0">
              <a:buNone/>
            </a:pPr>
            <a:r>
              <a:rPr lang="en-US" sz="1200" dirty="0">
                <a:solidFill>
                  <a:schemeClr val="tx1"/>
                </a:solidFill>
              </a:rPr>
              <a:t>  0:00 – 5:00</a:t>
            </a:r>
            <a:endParaRPr lang="en-US" sz="1200" dirty="0"/>
          </a:p>
        </p:txBody>
      </p:sp>
      <p:sp>
        <p:nvSpPr>
          <p:cNvPr id="6" name="Shape 4"/>
          <p:cNvSpPr/>
          <p:nvPr/>
        </p:nvSpPr>
        <p:spPr>
          <a:xfrm>
            <a:off x="548640" y="1508760"/>
            <a:ext cx="53492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Shape 5"/>
          <p:cNvSpPr/>
          <p:nvPr/>
        </p:nvSpPr>
        <p:spPr>
          <a:xfrm>
            <a:off x="868680" y="1783080"/>
            <a:ext cx="731520" cy="731520"/>
          </a:xfrm>
          <a:prstGeom prst="ellipse">
            <a:avLst/>
          </a:prstGeom>
          <a:solidFill>
            <a:srgbClr val="0F6B53"/>
          </a:solidFill>
          <a:ln w="12700">
            <a:solidFill>
              <a:srgbClr val="0F6B53"/>
            </a:solidFill>
            <a:prstDash val="solid"/>
          </a:ln>
        </p:spPr>
      </p:sp>
      <p:pic>
        <p:nvPicPr>
          <p:cNvPr id="8" name="Image 0" descr="preencoded.png">    </p:cNvPr>
          <p:cNvPicPr>
            <a:picLocks noChangeAspect="1"/>
          </p:cNvPicPr>
          <p:nvPr/>
        </p:nvPicPr>
        <p:blipFill>
          <a:blip r:embed="rId1"/>
          <a:stretch>
            <a:fillRect/>
          </a:stretch>
        </p:blipFill>
        <p:spPr>
          <a:xfrm>
            <a:off x="1058875" y="1973275"/>
            <a:ext cx="351130" cy="351130"/>
          </a:xfrm>
          <a:prstGeom prst="rect">
            <a:avLst/>
          </a:prstGeom>
        </p:spPr>
      </p:pic>
      <p:sp>
        <p:nvSpPr>
          <p:cNvPr id="9" name="Text 6"/>
          <p:cNvSpPr txBox="1"/>
          <p:nvPr/>
        </p:nvSpPr>
        <p:spPr>
          <a:xfrm>
            <a:off x="1783080" y="1783080"/>
            <a:ext cx="39319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Separate legal personality</a:t>
            </a:r>
            <a:endParaRPr lang="en-US" sz="2000" dirty="0"/>
          </a:p>
        </p:txBody>
      </p:sp>
      <p:sp>
        <p:nvSpPr>
          <p:cNvPr id="10" name="Text 7"/>
          <p:cNvSpPr txBox="1"/>
          <p:nvPr/>
        </p:nvSpPr>
        <p:spPr>
          <a:xfrm>
            <a:off x="1783080" y="2194560"/>
            <a:ext cx="3931920" cy="365760"/>
          </a:xfrm>
          <a:prstGeom prst="rect">
            <a:avLst/>
          </a:prstGeom>
          <a:noFill/>
          <a:ln/>
        </p:spPr>
        <p:txBody>
          <a:bodyPr wrap="square" lIns="0" tIns="0" rIns="0" bIns="0" rtlCol="0" anchor="ctr"/>
          <a:lstStyle/>
          <a:p>
            <a:pPr indent="0" marL="0">
              <a:buNone/>
            </a:pPr>
            <a:r>
              <a:rPr lang="en-US" sz="1500" i="1" dirty="0">
                <a:solidFill>
                  <a:schemeClr val="accent5"/>
                </a:solidFill>
              </a:rPr>
              <a:t>Who is the party?</a:t>
            </a:r>
            <a:endParaRPr lang="en-US" sz="1500" dirty="0"/>
          </a:p>
        </p:txBody>
      </p:sp>
      <p:sp>
        <p:nvSpPr>
          <p:cNvPr id="11" name="Text 8"/>
          <p:cNvSpPr txBox="1"/>
          <p:nvPr/>
        </p:nvSpPr>
        <p:spPr>
          <a:xfrm>
            <a:off x="868680" y="2788920"/>
            <a:ext cx="470916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The company owns property, contracts, sues and is sued in its own name</a:t>
            </a:r>
            <a:endParaRPr lang="en-US" sz="1500" dirty="0"/>
          </a:p>
          <a:p>
            <a:pPr marL="342900" indent="-342900">
              <a:spcAft>
                <a:spcPts val="800"/>
              </a:spcAft>
              <a:buSzPct val="100000"/>
              <a:buChar char="•"/>
            </a:pPr>
            <a:r>
              <a:rPr lang="en-US" sz="1500" dirty="0">
                <a:solidFill>
                  <a:schemeClr val="tx1"/>
                </a:solidFill>
              </a:rPr>
              <a:t>Its rights and debts are its own, not its members'</a:t>
            </a:r>
            <a:endParaRPr lang="en-US" sz="1500" dirty="0"/>
          </a:p>
          <a:p>
            <a:pPr marL="342900" indent="-342900">
              <a:spcAft>
                <a:spcPts val="800"/>
              </a:spcAft>
              <a:buSzPct val="100000"/>
              <a:buChar char="•"/>
            </a:pPr>
            <a:r>
              <a:rPr lang="en-US" sz="1500" dirty="0">
                <a:solidFill>
                  <a:schemeClr val="tx1"/>
                </a:solidFill>
              </a:rPr>
              <a:t>Exists even with one dominant shareholder</a:t>
            </a:r>
            <a:endParaRPr lang="en-US" sz="1500" dirty="0"/>
          </a:p>
        </p:txBody>
      </p:sp>
      <p:sp>
        <p:nvSpPr>
          <p:cNvPr id="12" name="Shape 9"/>
          <p:cNvSpPr/>
          <p:nvPr/>
        </p:nvSpPr>
        <p:spPr>
          <a:xfrm>
            <a:off x="6263640" y="1508760"/>
            <a:ext cx="53492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3" name="Shape 10"/>
          <p:cNvSpPr/>
          <p:nvPr/>
        </p:nvSpPr>
        <p:spPr>
          <a:xfrm>
            <a:off x="6583680" y="1783080"/>
            <a:ext cx="731520" cy="731520"/>
          </a:xfrm>
          <a:prstGeom prst="ellipse">
            <a:avLst/>
          </a:prstGeom>
          <a:solidFill>
            <a:srgbClr val="2F3C7E"/>
          </a:solidFill>
          <a:ln w="12700">
            <a:solidFill>
              <a:srgbClr val="2F3C7E"/>
            </a:solidFill>
            <a:prstDash val="solid"/>
          </a:ln>
        </p:spPr>
      </p:sp>
      <p:pic>
        <p:nvPicPr>
          <p:cNvPr id="14" name="Image 1" descr="preencoded.png">    </p:cNvPr>
          <p:cNvPicPr>
            <a:picLocks noChangeAspect="1"/>
          </p:cNvPicPr>
          <p:nvPr/>
        </p:nvPicPr>
        <p:blipFill>
          <a:blip r:embed="rId2"/>
          <a:stretch>
            <a:fillRect/>
          </a:stretch>
        </p:blipFill>
        <p:spPr>
          <a:xfrm>
            <a:off x="6773875" y="1973275"/>
            <a:ext cx="351130" cy="351130"/>
          </a:xfrm>
          <a:prstGeom prst="rect">
            <a:avLst/>
          </a:prstGeom>
        </p:spPr>
      </p:pic>
      <p:sp>
        <p:nvSpPr>
          <p:cNvPr id="15" name="Text 11"/>
          <p:cNvSpPr txBox="1"/>
          <p:nvPr/>
        </p:nvSpPr>
        <p:spPr>
          <a:xfrm>
            <a:off x="7498080" y="1783080"/>
            <a:ext cx="39319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Limited liability</a:t>
            </a:r>
            <a:endParaRPr lang="en-US" sz="2000" dirty="0"/>
          </a:p>
        </p:txBody>
      </p:sp>
      <p:sp>
        <p:nvSpPr>
          <p:cNvPr id="16" name="Text 12"/>
          <p:cNvSpPr txBox="1"/>
          <p:nvPr/>
        </p:nvSpPr>
        <p:spPr>
          <a:xfrm>
            <a:off x="7498080" y="2194560"/>
            <a:ext cx="3931920" cy="365760"/>
          </a:xfrm>
          <a:prstGeom prst="rect">
            <a:avLst/>
          </a:prstGeom>
          <a:noFill/>
          <a:ln/>
        </p:spPr>
        <p:txBody>
          <a:bodyPr wrap="square" lIns="0" tIns="0" rIns="0" bIns="0" rtlCol="0" anchor="ctr"/>
          <a:lstStyle/>
          <a:p>
            <a:pPr indent="0" marL="0">
              <a:buNone/>
            </a:pPr>
            <a:r>
              <a:rPr lang="en-US" sz="1500" i="1" dirty="0">
                <a:solidFill>
                  <a:schemeClr val="accent5"/>
                </a:solidFill>
              </a:rPr>
              <a:t>How much can an investor lose?</a:t>
            </a:r>
            <a:endParaRPr lang="en-US" sz="1500" dirty="0"/>
          </a:p>
        </p:txBody>
      </p:sp>
      <p:sp>
        <p:nvSpPr>
          <p:cNvPr id="17" name="Text 13"/>
          <p:cNvSpPr txBox="1"/>
          <p:nvPr/>
        </p:nvSpPr>
        <p:spPr>
          <a:xfrm>
            <a:off x="6583680" y="2788920"/>
            <a:ext cx="470916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 member's exposure is capped at their capital contribution</a:t>
            </a:r>
            <a:endParaRPr lang="en-US" sz="1500" dirty="0"/>
          </a:p>
          <a:p>
            <a:pPr marL="342900" indent="-342900">
              <a:spcAft>
                <a:spcPts val="800"/>
              </a:spcAft>
              <a:buSzPct val="100000"/>
              <a:buChar char="•"/>
            </a:pPr>
            <a:r>
              <a:rPr lang="en-US" sz="1500" dirty="0">
                <a:solidFill>
                  <a:schemeClr val="tx1"/>
                </a:solidFill>
              </a:rPr>
              <a:t>Unpaid company debts do not become personal debts</a:t>
            </a:r>
            <a:endParaRPr lang="en-US" sz="1500" dirty="0"/>
          </a:p>
          <a:p>
            <a:pPr marL="342900" indent="-342900">
              <a:spcAft>
                <a:spcPts val="800"/>
              </a:spcAft>
              <a:buSzPct val="100000"/>
              <a:buChar char="•"/>
            </a:pPr>
            <a:r>
              <a:rPr lang="en-US" sz="1500" dirty="0">
                <a:solidFill>
                  <a:schemeClr val="tx1"/>
                </a:solidFill>
              </a:rPr>
              <a:t>Makes passive investment and risk-taking possible</a:t>
            </a:r>
            <a:endParaRPr lang="en-US" sz="1500" dirty="0"/>
          </a:p>
        </p:txBody>
      </p:sp>
      <p:sp>
        <p:nvSpPr>
          <p:cNvPr id="18" name="Shape 14"/>
          <p:cNvSpPr/>
          <p:nvPr/>
        </p:nvSpPr>
        <p:spPr>
          <a:xfrm>
            <a:off x="548640" y="5212080"/>
            <a:ext cx="11064240" cy="914400"/>
          </a:xfrm>
          <a:prstGeom prst="roundRect">
            <a:avLst>
              <a:gd name="adj" fmla="val 10000"/>
            </a:avLst>
          </a:prstGeom>
          <a:solidFill>
            <a:schemeClr val="accent3">
              <a:alpha val="20000"/>
            </a:schemeClr>
          </a:solidFill>
          <a:ln w="12700">
            <a:solidFill>
              <a:schemeClr val="accent3">
                <a:alpha val="0"/>
              </a:schemeClr>
            </a:solidFill>
            <a:prstDash val="solid"/>
          </a:ln>
        </p:spPr>
      </p:sp>
      <p:sp>
        <p:nvSpPr>
          <p:cNvPr id="19" name="Text 15"/>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500" b="1" dirty="0">
                <a:solidFill>
                  <a:schemeClr val="tx1"/>
                </a:solidFill>
              </a:rPr>
              <a:t>The trade-off:  </a:t>
            </a:r>
            <a:pPr indent="0" marL="0">
              <a:buNone/>
            </a:pPr>
            <a:r>
              <a:rPr lang="en-US" sz="1500" dirty="0">
                <a:solidFill>
                  <a:schemeClr val="tx1"/>
                </a:solidFill>
              </a:rPr>
              <a:t>investors get a capped risk, and creditors carry what is left. The veil is the price the law pays for investment, so it lifts it only for good reason.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Salomon v A Salomon &amp; Co Ltd</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1"/>
          </a:solidFill>
          <a:ln w="12700">
            <a:solidFill>
              <a:schemeClr val="accent1"/>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Eman</a:t>
            </a:r>
            <a:pPr indent="0" marL="0">
              <a:buNone/>
            </a:pPr>
            <a:r>
              <a:rPr lang="en-US" sz="1200" dirty="0">
                <a:solidFill>
                  <a:schemeClr val="tx1"/>
                </a:solidFill>
              </a:rPr>
              <a:t>  0:00 – 5:00</a:t>
            </a:r>
            <a:endParaRPr lang="en-US" sz="1200" dirty="0"/>
          </a:p>
        </p:txBody>
      </p:sp>
      <p:sp>
        <p:nvSpPr>
          <p:cNvPr id="6" name="Text 4"/>
          <p:cNvSpPr txBox="1"/>
          <p:nvPr/>
        </p:nvSpPr>
        <p:spPr>
          <a:xfrm>
            <a:off x="548640" y="1188720"/>
            <a:ext cx="8778240" cy="274320"/>
          </a:xfrm>
          <a:prstGeom prst="rect">
            <a:avLst/>
          </a:prstGeom>
          <a:noFill/>
          <a:ln/>
        </p:spPr>
        <p:txBody>
          <a:bodyPr wrap="square" lIns="0" tIns="0" rIns="0" bIns="0" rtlCol="0" anchor="ctr"/>
          <a:lstStyle/>
          <a:p>
            <a:pPr indent="0" marL="0">
              <a:buNone/>
            </a:pPr>
            <a:r>
              <a:rPr lang="en-US" sz="1400" i="1" dirty="0">
                <a:solidFill>
                  <a:schemeClr val="accent5"/>
                </a:solidFill>
              </a:rPr>
              <a:t>[1897] AC 22 (HL)</a:t>
            </a:r>
            <a:endParaRPr lang="en-US" sz="1400" dirty="0"/>
          </a:p>
        </p:txBody>
      </p:sp>
      <p:sp>
        <p:nvSpPr>
          <p:cNvPr id="7" name="Shape 5"/>
          <p:cNvSpPr/>
          <p:nvPr/>
        </p:nvSpPr>
        <p:spPr>
          <a:xfrm>
            <a:off x="548640" y="150876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8" name="Shape 6"/>
          <p:cNvSpPr/>
          <p:nvPr/>
        </p:nvSpPr>
        <p:spPr>
          <a:xfrm>
            <a:off x="822960" y="173736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8"/>
          <p:cNvSpPr txBox="1"/>
          <p:nvPr/>
        </p:nvSpPr>
        <p:spPr>
          <a:xfrm>
            <a:off x="1508760" y="1737360"/>
            <a:ext cx="228600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Facts</a:t>
            </a:r>
            <a:endParaRPr lang="en-US" sz="2000" dirty="0"/>
          </a:p>
        </p:txBody>
      </p:sp>
      <p:sp>
        <p:nvSpPr>
          <p:cNvPr id="11" name="Text 9"/>
          <p:cNvSpPr txBox="1"/>
          <p:nvPr/>
        </p:nvSpPr>
        <p:spPr>
          <a:xfrm>
            <a:off x="822960" y="2468880"/>
            <a:ext cx="2926080" cy="1600200"/>
          </a:xfrm>
          <a:prstGeom prst="rect">
            <a:avLst/>
          </a:prstGeom>
          <a:noFill/>
          <a:ln/>
        </p:spPr>
        <p:txBody>
          <a:bodyPr wrap="square" lIns="0" tIns="0" rIns="0" bIns="0" rtlCol="0" anchor="t"/>
          <a:lstStyle/>
          <a:p>
            <a:pPr indent="0" marL="0">
              <a:buNone/>
            </a:pPr>
            <a:r>
              <a:rPr lang="en-US" sz="1500" dirty="0">
                <a:solidFill>
                  <a:schemeClr val="tx1"/>
                </a:solidFill>
              </a:rPr>
              <a:t>Aron Salomon sold his boot business to a company he formed. He held 20,001 of 20,007 shares and secured debentures.</a:t>
            </a:r>
            <a:endParaRPr lang="en-US" sz="1500" dirty="0"/>
          </a:p>
        </p:txBody>
      </p:sp>
      <p:sp>
        <p:nvSpPr>
          <p:cNvPr id="12" name="Shape 10"/>
          <p:cNvSpPr/>
          <p:nvPr/>
        </p:nvSpPr>
        <p:spPr>
          <a:xfrm>
            <a:off x="4297680" y="150876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3" name="Shape 11"/>
          <p:cNvSpPr/>
          <p:nvPr/>
        </p:nvSpPr>
        <p:spPr>
          <a:xfrm>
            <a:off x="4572000" y="173736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457200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3"/>
          <p:cNvSpPr txBox="1"/>
          <p:nvPr/>
        </p:nvSpPr>
        <p:spPr>
          <a:xfrm>
            <a:off x="5257800" y="1737360"/>
            <a:ext cx="228600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Dispute</a:t>
            </a:r>
            <a:endParaRPr lang="en-US" sz="2000" dirty="0"/>
          </a:p>
        </p:txBody>
      </p:sp>
      <p:sp>
        <p:nvSpPr>
          <p:cNvPr id="16" name="Text 14"/>
          <p:cNvSpPr txBox="1"/>
          <p:nvPr/>
        </p:nvSpPr>
        <p:spPr>
          <a:xfrm>
            <a:off x="4572000" y="2468880"/>
            <a:ext cx="2926080" cy="1600200"/>
          </a:xfrm>
          <a:prstGeom prst="rect">
            <a:avLst/>
          </a:prstGeom>
          <a:noFill/>
          <a:ln/>
        </p:spPr>
        <p:txBody>
          <a:bodyPr wrap="square" lIns="0" tIns="0" rIns="0" bIns="0" rtlCol="0" anchor="t"/>
          <a:lstStyle/>
          <a:p>
            <a:pPr indent="0" marL="0">
              <a:buNone/>
            </a:pPr>
            <a:r>
              <a:rPr lang="en-US" sz="1500" dirty="0">
                <a:solidFill>
                  <a:schemeClr val="tx1"/>
                </a:solidFill>
              </a:rPr>
              <a:t>The company became insolvent. The liquidator argued it was only Salomon's agent, so he should pay its debts.</a:t>
            </a:r>
            <a:endParaRPr lang="en-US" sz="1500" dirty="0"/>
          </a:p>
        </p:txBody>
      </p:sp>
      <p:sp>
        <p:nvSpPr>
          <p:cNvPr id="17" name="Shape 15"/>
          <p:cNvSpPr/>
          <p:nvPr/>
        </p:nvSpPr>
        <p:spPr>
          <a:xfrm>
            <a:off x="8046720" y="150876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8" name="Shape 16"/>
          <p:cNvSpPr/>
          <p:nvPr/>
        </p:nvSpPr>
        <p:spPr>
          <a:xfrm>
            <a:off x="8321040" y="1737360"/>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832104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9006840" y="1737360"/>
            <a:ext cx="228600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Held</a:t>
            </a:r>
            <a:endParaRPr lang="en-US" sz="2000" dirty="0"/>
          </a:p>
        </p:txBody>
      </p:sp>
      <p:sp>
        <p:nvSpPr>
          <p:cNvPr id="21" name="Text 19"/>
          <p:cNvSpPr txBox="1"/>
          <p:nvPr/>
        </p:nvSpPr>
        <p:spPr>
          <a:xfrm>
            <a:off x="8321040" y="2468880"/>
            <a:ext cx="2926080" cy="1600200"/>
          </a:xfrm>
          <a:prstGeom prst="rect">
            <a:avLst/>
          </a:prstGeom>
          <a:noFill/>
          <a:ln/>
        </p:spPr>
        <p:txBody>
          <a:bodyPr wrap="square" lIns="0" tIns="0" rIns="0" bIns="0" rtlCol="0" anchor="t"/>
          <a:lstStyle/>
          <a:p>
            <a:pPr indent="0" marL="0">
              <a:buNone/>
            </a:pPr>
            <a:r>
              <a:rPr lang="en-US" sz="1500" dirty="0">
                <a:solidFill>
                  <a:schemeClr val="tx1"/>
                </a:solidFill>
              </a:rPr>
              <a:t>The company was validly formed and a separate person. Salomon was not liable, and ranked as a secured creditor.</a:t>
            </a:r>
            <a:endParaRPr lang="en-US" sz="1500" dirty="0"/>
          </a:p>
        </p:txBody>
      </p:sp>
      <p:sp>
        <p:nvSpPr>
          <p:cNvPr id="22" name="Shape 20"/>
          <p:cNvSpPr/>
          <p:nvPr/>
        </p:nvSpPr>
        <p:spPr>
          <a:xfrm>
            <a:off x="548640" y="4434840"/>
            <a:ext cx="11064240" cy="1691640"/>
          </a:xfrm>
          <a:prstGeom prst="roundRect">
            <a:avLst>
              <a:gd name="adj" fmla="val 5405"/>
            </a:avLst>
          </a:prstGeom>
          <a:solidFill>
            <a:schemeClr val="tx1"/>
          </a:solidFill>
          <a:ln w="12700">
            <a:solidFill>
              <a:schemeClr val="tx1"/>
            </a:solidFill>
            <a:prstDash val="solid"/>
          </a:ln>
        </p:spPr>
      </p:sp>
      <p:sp>
        <p:nvSpPr>
          <p:cNvPr id="23" name="Shape 21"/>
          <p:cNvSpPr/>
          <p:nvPr/>
        </p:nvSpPr>
        <p:spPr>
          <a:xfrm>
            <a:off x="822960" y="4846320"/>
            <a:ext cx="868680" cy="868680"/>
          </a:xfrm>
          <a:prstGeom prst="ellipse">
            <a:avLst/>
          </a:prstGeom>
          <a:solidFill>
            <a:srgbClr val="C9A227"/>
          </a:solidFill>
          <a:ln w="12700">
            <a:solidFill>
              <a:srgbClr val="C9A227"/>
            </a:solidFill>
            <a:prstDash val="solid"/>
          </a:ln>
        </p:spPr>
      </p:sp>
      <p:pic>
        <p:nvPicPr>
          <p:cNvPr id="24" name="Image 0" descr="preencoded.png">    </p:cNvPr>
          <p:cNvPicPr>
            <a:picLocks noChangeAspect="1"/>
          </p:cNvPicPr>
          <p:nvPr/>
        </p:nvPicPr>
        <p:blipFill>
          <a:blip r:embed="rId1"/>
          <a:stretch>
            <a:fillRect/>
          </a:stretch>
        </p:blipFill>
        <p:spPr>
          <a:xfrm>
            <a:off x="1048817" y="5072177"/>
            <a:ext cx="416966" cy="416966"/>
          </a:xfrm>
          <a:prstGeom prst="rect">
            <a:avLst/>
          </a:prstGeom>
        </p:spPr>
      </p:pic>
      <p:sp>
        <p:nvSpPr>
          <p:cNvPr id="25" name="Text 22"/>
          <p:cNvSpPr txBox="1"/>
          <p:nvPr/>
        </p:nvSpPr>
        <p:spPr>
          <a:xfrm>
            <a:off x="1965960" y="4526280"/>
            <a:ext cx="9418320" cy="1508760"/>
          </a:xfrm>
          <a:prstGeom prst="rect">
            <a:avLst/>
          </a:prstGeom>
          <a:noFill/>
          <a:ln/>
        </p:spPr>
        <p:txBody>
          <a:bodyPr wrap="square" lIns="0" tIns="0" rIns="0" bIns="0" rtlCol="0" anchor="ctr"/>
          <a:lstStyle/>
          <a:p>
            <a:pPr indent="0" marL="0">
              <a:buNone/>
            </a:pPr>
            <a:r>
              <a:rPr lang="en-US" sz="1500" b="1" dirty="0">
                <a:solidFill>
                  <a:schemeClr val="accent3"/>
                </a:solidFill>
              </a:rPr>
              <a:t>Why it still matters  </a:t>
            </a:r>
            <a:endParaRPr lang="en-US" sz="1500" dirty="0"/>
          </a:p>
          <a:p>
            <a:pPr indent="0" marL="0">
              <a:buNone/>
            </a:pPr>
            <a:r>
              <a:rPr lang="en-US" sz="1500" dirty="0">
                <a:solidFill>
                  <a:schemeClr val="bg1"/>
                </a:solidFill>
              </a:rPr>
              <a:t>Control by one person does not defeat separate personality. This is the baseline both systems start from: in Saudi Arabia, Article 9 of the Companies Law gives a company legal personality on registration in the Commercial Register.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Saudi Arabia: personality starts at registration</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2"/>
          </a:solidFill>
          <a:ln w="12700">
            <a:solidFill>
              <a:schemeClr val="accent2"/>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Monerah</a:t>
            </a:r>
            <a:pPr indent="0" marL="0">
              <a:buNone/>
            </a:pPr>
            <a:r>
              <a:rPr lang="en-US" sz="1200" dirty="0">
                <a:solidFill>
                  <a:schemeClr val="tx1"/>
                </a:solidFill>
              </a:rPr>
              <a:t>  5:00 – 10:00</a:t>
            </a:r>
            <a:endParaRPr lang="en-US" sz="1200" dirty="0"/>
          </a:p>
        </p:txBody>
      </p:sp>
      <p:sp>
        <p:nvSpPr>
          <p:cNvPr id="6" name="Text 4"/>
          <p:cNvSpPr txBox="1"/>
          <p:nvPr/>
        </p:nvSpPr>
        <p:spPr>
          <a:xfrm>
            <a:off x="548640" y="1188720"/>
            <a:ext cx="8778240" cy="365760"/>
          </a:xfrm>
          <a:prstGeom prst="rect">
            <a:avLst/>
          </a:prstGeom>
          <a:noFill/>
          <a:ln/>
        </p:spPr>
        <p:txBody>
          <a:bodyPr wrap="square" lIns="0" tIns="0" rIns="0" bIns="0" rtlCol="0" anchor="ctr"/>
          <a:lstStyle/>
          <a:p>
            <a:pPr indent="0" marL="0">
              <a:buNone/>
            </a:pPr>
            <a:r>
              <a:rPr lang="en-US" sz="1400" i="1" dirty="0">
                <a:solidFill>
                  <a:schemeClr val="accent5"/>
                </a:solidFill>
              </a:rPr>
              <a:t>Companies Law, Royal Decree No (M/132) dated 1/12/1443H, in force 19 January 2023</a:t>
            </a:r>
            <a:endParaRPr lang="en-US" sz="1400" dirty="0"/>
          </a:p>
        </p:txBody>
      </p:sp>
      <p:sp>
        <p:nvSpPr>
          <p:cNvPr id="7" name="Shape 5"/>
          <p:cNvSpPr/>
          <p:nvPr/>
        </p:nvSpPr>
        <p:spPr>
          <a:xfrm>
            <a:off x="822960" y="2011680"/>
            <a:ext cx="10515600" cy="0"/>
          </a:xfrm>
          <a:prstGeom prst="line">
            <a:avLst/>
          </a:prstGeom>
          <a:noFill/>
          <a:ln w="25400">
            <a:solidFill>
              <a:srgbClr val="5C6B73"/>
            </a:solidFill>
            <a:prstDash val="solid"/>
            <a:tailEnd type="triangle"/>
          </a:ln>
        </p:spPr>
      </p:sp>
      <p:sp>
        <p:nvSpPr>
          <p:cNvPr id="8" name="Shape 6"/>
          <p:cNvSpPr/>
          <p:nvPr/>
        </p:nvSpPr>
        <p:spPr>
          <a:xfrm>
            <a:off x="822960" y="1901952"/>
            <a:ext cx="5120640" cy="219456"/>
          </a:xfrm>
          <a:prstGeom prst="rect">
            <a:avLst/>
          </a:prstGeom>
          <a:solidFill>
            <a:schemeClr val="accent4">
              <a:alpha val="40000"/>
            </a:schemeClr>
          </a:solidFill>
          <a:ln w="12700">
            <a:solidFill>
              <a:schemeClr val="accent4">
                <a:alpha val="0"/>
              </a:schemeClr>
            </a:solidFill>
            <a:prstDash val="solid"/>
          </a:ln>
        </p:spPr>
      </p:sp>
      <p:sp>
        <p:nvSpPr>
          <p:cNvPr id="9" name="Text 7"/>
          <p:cNvSpPr txBox="1"/>
          <p:nvPr/>
        </p:nvSpPr>
        <p:spPr>
          <a:xfrm>
            <a:off x="914400" y="2377440"/>
            <a:ext cx="4937760" cy="640080"/>
          </a:xfrm>
          <a:prstGeom prst="rect">
            <a:avLst/>
          </a:prstGeom>
          <a:noFill/>
          <a:ln/>
        </p:spPr>
        <p:txBody>
          <a:bodyPr wrap="square" lIns="0" tIns="0" rIns="0" bIns="0" rtlCol="0" anchor="ctr"/>
          <a:lstStyle/>
          <a:p>
            <a:pPr indent="0" marL="0">
              <a:buNone/>
            </a:pPr>
            <a:r>
              <a:rPr lang="en-US" sz="1300" b="1" dirty="0">
                <a:solidFill>
                  <a:schemeClr val="accent4"/>
                </a:solidFill>
              </a:rPr>
              <a:t>Exposure zone: founders act before the company fully exists</a:t>
            </a:r>
            <a:endParaRPr lang="en-US" sz="1300" dirty="0"/>
          </a:p>
        </p:txBody>
      </p:sp>
      <p:sp>
        <p:nvSpPr>
          <p:cNvPr id="10" name="Shape 8"/>
          <p:cNvSpPr/>
          <p:nvPr/>
        </p:nvSpPr>
        <p:spPr>
          <a:xfrm>
            <a:off x="5897880" y="1783080"/>
            <a:ext cx="457200" cy="457200"/>
          </a:xfrm>
          <a:prstGeom prst="ellipse">
            <a:avLst/>
          </a:prstGeom>
          <a:solidFill>
            <a:schemeClr val="accent1"/>
          </a:solidFill>
          <a:ln w="38100">
            <a:solidFill>
              <a:schemeClr val="bg1"/>
            </a:solidFill>
            <a:prstDash val="solid"/>
          </a:ln>
        </p:spPr>
      </p:sp>
      <p:sp>
        <p:nvSpPr>
          <p:cNvPr id="11" name="Text 9"/>
          <p:cNvSpPr txBox="1"/>
          <p:nvPr/>
        </p:nvSpPr>
        <p:spPr>
          <a:xfrm>
            <a:off x="6492240" y="2377440"/>
            <a:ext cx="4754880" cy="640080"/>
          </a:xfrm>
          <a:prstGeom prst="rect">
            <a:avLst/>
          </a:prstGeom>
          <a:noFill/>
          <a:ln/>
        </p:spPr>
        <p:txBody>
          <a:bodyPr wrap="square" lIns="0" tIns="0" rIns="0" bIns="0" rtlCol="0" anchor="ctr"/>
          <a:lstStyle/>
          <a:p>
            <a:pPr indent="0" marL="0">
              <a:buNone/>
            </a:pPr>
            <a:r>
              <a:rPr lang="en-US" sz="1300" b="1" dirty="0">
                <a:solidFill>
                  <a:schemeClr val="accent1"/>
                </a:solidFill>
              </a:rPr>
              <a:t>Registration in the Commercial Register</a:t>
            </a:r>
            <a:endParaRPr lang="en-US" sz="1300" dirty="0"/>
          </a:p>
        </p:txBody>
      </p:sp>
      <p:sp>
        <p:nvSpPr>
          <p:cNvPr id="12" name="Shape 10"/>
          <p:cNvSpPr/>
          <p:nvPr/>
        </p:nvSpPr>
        <p:spPr>
          <a:xfrm>
            <a:off x="548640" y="3154680"/>
            <a:ext cx="5440680" cy="2971800"/>
          </a:xfrm>
          <a:prstGeom prst="roundRect">
            <a:avLst>
              <a:gd name="adj" fmla="val 3692"/>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3" name="Text 11"/>
          <p:cNvSpPr txBox="1"/>
          <p:nvPr/>
        </p:nvSpPr>
        <p:spPr>
          <a:xfrm>
            <a:off x="868680" y="3383280"/>
            <a:ext cx="475488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ARTICLE 9</a:t>
            </a:r>
            <a:endParaRPr lang="en-US" sz="1300" dirty="0"/>
          </a:p>
        </p:txBody>
      </p:sp>
      <p:sp>
        <p:nvSpPr>
          <p:cNvPr id="14" name="Text 12"/>
          <p:cNvSpPr txBox="1"/>
          <p:nvPr/>
        </p:nvSpPr>
        <p:spPr>
          <a:xfrm>
            <a:off x="868680" y="3703320"/>
            <a:ext cx="47548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Personality on registration</a:t>
            </a:r>
            <a:endParaRPr lang="en-US" sz="2000" dirty="0"/>
          </a:p>
        </p:txBody>
      </p:sp>
      <p:sp>
        <p:nvSpPr>
          <p:cNvPr id="15" name="Text 13"/>
          <p:cNvSpPr txBox="1"/>
          <p:nvPr/>
        </p:nvSpPr>
        <p:spPr>
          <a:xfrm>
            <a:off x="868680" y="4251960"/>
            <a:ext cx="4800600" cy="1783080"/>
          </a:xfrm>
          <a:prstGeom prst="rect">
            <a:avLst/>
          </a:prstGeom>
          <a:noFill/>
          <a:ln/>
        </p:spPr>
        <p:txBody>
          <a:bodyPr wrap="square" lIns="0" tIns="0" rIns="0" bIns="0" rtlCol="0" anchor="t"/>
          <a:lstStyle/>
          <a:p>
            <a:pPr indent="0" marL="0">
              <a:buNone/>
            </a:pPr>
            <a:r>
              <a:rPr lang="en-US" sz="1600" dirty="0">
                <a:solidFill>
                  <a:schemeClr val="tx1"/>
                </a:solidFill>
              </a:rPr>
              <a:t>A company acquires legal personality on registration. During incorporation it has personality only as far as incorporation needs. If incorporation is not completed, the persons who acted in its name are jointly and personally liable to third parties.</a:t>
            </a:r>
            <a:endParaRPr lang="en-US" sz="1600" dirty="0"/>
          </a:p>
        </p:txBody>
      </p:sp>
      <p:sp>
        <p:nvSpPr>
          <p:cNvPr id="16" name="Shape 14"/>
          <p:cNvSpPr/>
          <p:nvPr/>
        </p:nvSpPr>
        <p:spPr>
          <a:xfrm>
            <a:off x="6172200" y="3154680"/>
            <a:ext cx="5440680" cy="2971800"/>
          </a:xfrm>
          <a:prstGeom prst="roundRect">
            <a:avLst>
              <a:gd name="adj" fmla="val 3692"/>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7" name="Text 15"/>
          <p:cNvSpPr txBox="1"/>
          <p:nvPr/>
        </p:nvSpPr>
        <p:spPr>
          <a:xfrm>
            <a:off x="6492240" y="3383280"/>
            <a:ext cx="475488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ARTICLE 8</a:t>
            </a:r>
            <a:endParaRPr lang="en-US" sz="1300" dirty="0"/>
          </a:p>
        </p:txBody>
      </p:sp>
      <p:sp>
        <p:nvSpPr>
          <p:cNvPr id="18" name="Text 16"/>
          <p:cNvSpPr txBox="1"/>
          <p:nvPr/>
        </p:nvSpPr>
        <p:spPr>
          <a:xfrm>
            <a:off x="6492240" y="3703320"/>
            <a:ext cx="47548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Duty to register documents</a:t>
            </a:r>
            <a:endParaRPr lang="en-US" sz="2000" dirty="0"/>
          </a:p>
        </p:txBody>
      </p:sp>
      <p:sp>
        <p:nvSpPr>
          <p:cNvPr id="19" name="Text 17"/>
          <p:cNvSpPr txBox="1"/>
          <p:nvPr/>
        </p:nvSpPr>
        <p:spPr>
          <a:xfrm>
            <a:off x="6492240" y="4251960"/>
            <a:ext cx="4800600" cy="1783080"/>
          </a:xfrm>
          <a:prstGeom prst="rect">
            <a:avLst/>
          </a:prstGeom>
          <a:noFill/>
          <a:ln/>
        </p:spPr>
        <p:txBody>
          <a:bodyPr wrap="square" lIns="0" tIns="0" rIns="0" bIns="0" rtlCol="0" anchor="t"/>
          <a:lstStyle/>
          <a:p>
            <a:pPr indent="0" marL="0">
              <a:buNone/>
            </a:pPr>
            <a:r>
              <a:rPr lang="en-US" sz="1600" dirty="0">
                <a:solidFill>
                  <a:schemeClr val="tx1"/>
                </a:solidFill>
              </a:rPr>
              <a:t>The persons responsible must register the company's documents and amendments. If they fail to, they are jointly and severally liable for any damage that results.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Saudi Arabia: liability that reaches outsiders</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2"/>
          </a:solidFill>
          <a:ln w="12700">
            <a:solidFill>
              <a:schemeClr val="accent2"/>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Monerah</a:t>
            </a:r>
            <a:pPr indent="0" marL="0">
              <a:buNone/>
            </a:pPr>
            <a:r>
              <a:rPr lang="en-US" sz="1200" dirty="0">
                <a:solidFill>
                  <a:schemeClr val="tx1"/>
                </a:solidFill>
              </a:rPr>
              <a:t>  5:00 – 10:00</a:t>
            </a:r>
            <a:endParaRPr lang="en-US" sz="1200" dirty="0"/>
          </a:p>
        </p:txBody>
      </p:sp>
      <p:sp>
        <p:nvSpPr>
          <p:cNvPr id="6" name="Shape 4"/>
          <p:cNvSpPr/>
          <p:nvPr/>
        </p:nvSpPr>
        <p:spPr>
          <a:xfrm>
            <a:off x="548640" y="1463040"/>
            <a:ext cx="1600200" cy="777240"/>
          </a:xfrm>
          <a:prstGeom prst="roundRect">
            <a:avLst>
              <a:gd name="adj" fmla="val 11765"/>
            </a:avLst>
          </a:prstGeom>
          <a:solidFill>
            <a:schemeClr val="accent1"/>
          </a:solidFill>
          <a:ln w="12700">
            <a:solidFill>
              <a:schemeClr val="accent1"/>
            </a:solidFill>
            <a:prstDash val="solid"/>
          </a:ln>
        </p:spPr>
      </p:sp>
      <p:sp>
        <p:nvSpPr>
          <p:cNvPr id="7" name="Text 5"/>
          <p:cNvSpPr txBox="1"/>
          <p:nvPr/>
        </p:nvSpPr>
        <p:spPr>
          <a:xfrm>
            <a:off x="548640" y="146304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Arts 26–27</a:t>
            </a:r>
            <a:endParaRPr lang="en-US" sz="1500" dirty="0"/>
          </a:p>
        </p:txBody>
      </p:sp>
      <p:sp>
        <p:nvSpPr>
          <p:cNvPr id="8" name="Text 6"/>
          <p:cNvSpPr txBox="1"/>
          <p:nvPr/>
        </p:nvSpPr>
        <p:spPr>
          <a:xfrm>
            <a:off x="2377440" y="1463040"/>
            <a:ext cx="5212080" cy="777240"/>
          </a:xfrm>
          <a:prstGeom prst="rect">
            <a:avLst/>
          </a:prstGeom>
          <a:noFill/>
          <a:ln/>
        </p:spPr>
        <p:txBody>
          <a:bodyPr wrap="square" lIns="0" tIns="0" rIns="0" bIns="0" rtlCol="0" anchor="ctr"/>
          <a:lstStyle/>
          <a:p>
            <a:pPr indent="0" marL="0">
              <a:buNone/>
            </a:pPr>
            <a:r>
              <a:rPr lang="en-US" sz="1400" dirty="0">
                <a:solidFill>
                  <a:schemeClr val="tx1"/>
                </a:solidFill>
              </a:rPr>
              <a:t>Managers and board members owe the company duties of care and loyalty, and may not hold conflicting interests or compete without approval.</a:t>
            </a:r>
            <a:endParaRPr lang="en-US" sz="1400" dirty="0"/>
          </a:p>
        </p:txBody>
      </p:sp>
      <p:sp>
        <p:nvSpPr>
          <p:cNvPr id="9" name="Shape 7"/>
          <p:cNvSpPr/>
          <p:nvPr/>
        </p:nvSpPr>
        <p:spPr>
          <a:xfrm>
            <a:off x="548640" y="2423160"/>
            <a:ext cx="1600200" cy="777240"/>
          </a:xfrm>
          <a:prstGeom prst="roundRect">
            <a:avLst>
              <a:gd name="adj" fmla="val 11765"/>
            </a:avLst>
          </a:prstGeom>
          <a:solidFill>
            <a:schemeClr val="accent1"/>
          </a:solidFill>
          <a:ln w="12700">
            <a:solidFill>
              <a:schemeClr val="accent1"/>
            </a:solidFill>
            <a:prstDash val="solid"/>
          </a:ln>
        </p:spPr>
      </p:sp>
      <p:sp>
        <p:nvSpPr>
          <p:cNvPr id="10" name="Text 8"/>
          <p:cNvSpPr txBox="1"/>
          <p:nvPr/>
        </p:nvSpPr>
        <p:spPr>
          <a:xfrm>
            <a:off x="548640" y="242316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Art 28</a:t>
            </a:r>
            <a:endParaRPr lang="en-US" sz="1500" dirty="0"/>
          </a:p>
        </p:txBody>
      </p:sp>
      <p:sp>
        <p:nvSpPr>
          <p:cNvPr id="11" name="Text 9"/>
          <p:cNvSpPr txBox="1"/>
          <p:nvPr/>
        </p:nvSpPr>
        <p:spPr>
          <a:xfrm>
            <a:off x="2377440" y="2423160"/>
            <a:ext cx="5212080" cy="777240"/>
          </a:xfrm>
          <a:prstGeom prst="rect">
            <a:avLst/>
          </a:prstGeom>
          <a:noFill/>
          <a:ln/>
        </p:spPr>
        <p:txBody>
          <a:bodyPr wrap="square" lIns="0" tIns="0" rIns="0" bIns="0" rtlCol="0" anchor="ctr"/>
          <a:lstStyle/>
          <a:p>
            <a:pPr indent="0" marL="0">
              <a:buNone/>
            </a:pPr>
            <a:r>
              <a:rPr lang="en-US" sz="1400" dirty="0">
                <a:solidFill>
                  <a:schemeClr val="tx1"/>
                </a:solidFill>
              </a:rPr>
              <a:t>They are jointly liable to compensate the company, partners, shareholders or third parties for damage from breaching the Law or the articles, or from error or negligence. Any clause excluding this is void.</a:t>
            </a:r>
            <a:endParaRPr lang="en-US" sz="1400" dirty="0"/>
          </a:p>
        </p:txBody>
      </p:sp>
      <p:sp>
        <p:nvSpPr>
          <p:cNvPr id="12" name="Shape 10"/>
          <p:cNvSpPr/>
          <p:nvPr/>
        </p:nvSpPr>
        <p:spPr>
          <a:xfrm>
            <a:off x="548640" y="3383280"/>
            <a:ext cx="1600200" cy="777240"/>
          </a:xfrm>
          <a:prstGeom prst="roundRect">
            <a:avLst>
              <a:gd name="adj" fmla="val 11765"/>
            </a:avLst>
          </a:prstGeom>
          <a:solidFill>
            <a:schemeClr val="accent1"/>
          </a:solidFill>
          <a:ln w="12700">
            <a:solidFill>
              <a:schemeClr val="accent1"/>
            </a:solidFill>
            <a:prstDash val="solid"/>
          </a:ln>
        </p:spPr>
      </p:sp>
      <p:sp>
        <p:nvSpPr>
          <p:cNvPr id="13" name="Text 11"/>
          <p:cNvSpPr txBox="1"/>
          <p:nvPr/>
        </p:nvSpPr>
        <p:spPr>
          <a:xfrm>
            <a:off x="548640" y="338328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Art 242(2)</a:t>
            </a:r>
            <a:endParaRPr lang="en-US" sz="1500" dirty="0"/>
          </a:p>
        </p:txBody>
      </p:sp>
      <p:sp>
        <p:nvSpPr>
          <p:cNvPr id="14" name="Text 12"/>
          <p:cNvSpPr txBox="1"/>
          <p:nvPr/>
        </p:nvSpPr>
        <p:spPr>
          <a:xfrm>
            <a:off x="2377440" y="3383280"/>
            <a:ext cx="5212080" cy="777240"/>
          </a:xfrm>
          <a:prstGeom prst="rect">
            <a:avLst/>
          </a:prstGeom>
          <a:noFill/>
          <a:ln/>
        </p:spPr>
        <p:txBody>
          <a:bodyPr wrap="square" lIns="0" tIns="0" rIns="0" bIns="0" rtlCol="0" anchor="ctr"/>
          <a:lstStyle/>
          <a:p>
            <a:pPr indent="0" marL="0">
              <a:buNone/>
            </a:pPr>
            <a:r>
              <a:rPr lang="en-US" sz="1400" dirty="0">
                <a:solidFill>
                  <a:schemeClr val="tx1"/>
                </a:solidFill>
              </a:rPr>
              <a:t>Members who resolve to dissolve when the company's assets cannot cover its debts become jointly liable for the outstanding debts.</a:t>
            </a:r>
            <a:endParaRPr lang="en-US" sz="1400" dirty="0"/>
          </a:p>
        </p:txBody>
      </p:sp>
      <p:sp>
        <p:nvSpPr>
          <p:cNvPr id="15" name="Shape 13"/>
          <p:cNvSpPr/>
          <p:nvPr/>
        </p:nvSpPr>
        <p:spPr>
          <a:xfrm>
            <a:off x="548640" y="4343400"/>
            <a:ext cx="1600200" cy="777240"/>
          </a:xfrm>
          <a:prstGeom prst="roundRect">
            <a:avLst>
              <a:gd name="adj" fmla="val 11765"/>
            </a:avLst>
          </a:prstGeom>
          <a:solidFill>
            <a:schemeClr val="accent1"/>
          </a:solidFill>
          <a:ln w="12700">
            <a:solidFill>
              <a:schemeClr val="accent1"/>
            </a:solidFill>
            <a:prstDash val="solid"/>
          </a:ln>
        </p:spPr>
      </p:sp>
      <p:sp>
        <p:nvSpPr>
          <p:cNvPr id="16" name="Text 14"/>
          <p:cNvSpPr txBox="1"/>
          <p:nvPr/>
        </p:nvSpPr>
        <p:spPr>
          <a:xfrm>
            <a:off x="548640" y="4343400"/>
            <a:ext cx="1600200" cy="777240"/>
          </a:xfrm>
          <a:prstGeom prst="rect">
            <a:avLst/>
          </a:prstGeom>
          <a:noFill/>
          <a:ln/>
        </p:spPr>
        <p:txBody>
          <a:bodyPr wrap="square" lIns="0" tIns="0" rIns="0" bIns="0" rtlCol="0" anchor="ctr"/>
          <a:lstStyle/>
          <a:p>
            <a:pPr algn="ctr" indent="0" marL="0">
              <a:buNone/>
            </a:pPr>
            <a:r>
              <a:rPr lang="en-US" sz="1500" b="1" dirty="0">
                <a:solidFill>
                  <a:schemeClr val="bg1"/>
                </a:solidFill>
              </a:rPr>
              <a:t>Art 209</a:t>
            </a:r>
            <a:endParaRPr lang="en-US" sz="1500" dirty="0"/>
          </a:p>
        </p:txBody>
      </p:sp>
      <p:sp>
        <p:nvSpPr>
          <p:cNvPr id="17" name="Text 15"/>
          <p:cNvSpPr txBox="1"/>
          <p:nvPr/>
        </p:nvSpPr>
        <p:spPr>
          <a:xfrm>
            <a:off x="2377440" y="4343400"/>
            <a:ext cx="5212080" cy="777240"/>
          </a:xfrm>
          <a:prstGeom prst="rect">
            <a:avLst/>
          </a:prstGeom>
          <a:noFill/>
          <a:ln/>
        </p:spPr>
        <p:txBody>
          <a:bodyPr wrap="square" lIns="0" tIns="0" rIns="0" bIns="0" rtlCol="0" anchor="ctr"/>
          <a:lstStyle/>
          <a:p>
            <a:pPr indent="0" marL="0">
              <a:buNone/>
            </a:pPr>
            <a:r>
              <a:rPr lang="en-US" sz="1400" dirty="0">
                <a:solidFill>
                  <a:schemeClr val="tx1"/>
                </a:solidFill>
              </a:rPr>
              <a:t>Each partner or shareholder in a professional company is personally liable for their own professional errors.</a:t>
            </a:r>
            <a:endParaRPr lang="en-US" sz="1400" dirty="0"/>
          </a:p>
        </p:txBody>
      </p:sp>
      <p:sp>
        <p:nvSpPr>
          <p:cNvPr id="18" name="Shape 16"/>
          <p:cNvSpPr/>
          <p:nvPr/>
        </p:nvSpPr>
        <p:spPr>
          <a:xfrm>
            <a:off x="8001000" y="1463040"/>
            <a:ext cx="3611880" cy="3657600"/>
          </a:xfrm>
          <a:prstGeom prst="roundRect">
            <a:avLst>
              <a:gd name="adj" fmla="val 3038"/>
            </a:avLst>
          </a:prstGeom>
          <a:solidFill>
            <a:schemeClr val="tx1"/>
          </a:solidFill>
          <a:ln w="12700">
            <a:solidFill>
              <a:schemeClr val="tx1"/>
            </a:solidFill>
            <a:prstDash val="solid"/>
          </a:ln>
        </p:spPr>
      </p:sp>
      <p:sp>
        <p:nvSpPr>
          <p:cNvPr id="19" name="Shape 17"/>
          <p:cNvSpPr/>
          <p:nvPr/>
        </p:nvSpPr>
        <p:spPr>
          <a:xfrm>
            <a:off x="8275320" y="1737360"/>
            <a:ext cx="731520" cy="731520"/>
          </a:xfrm>
          <a:prstGeom prst="ellipse">
            <a:avLst/>
          </a:prstGeom>
          <a:solidFill>
            <a:srgbClr val="C9A227"/>
          </a:solidFill>
          <a:ln w="12700">
            <a:solidFill>
              <a:srgbClr val="C9A227"/>
            </a:solidFill>
            <a:prstDash val="solid"/>
          </a:ln>
        </p:spPr>
      </p:sp>
      <p:pic>
        <p:nvPicPr>
          <p:cNvPr id="20" name="Image 0" descr="preencoded.png">    </p:cNvPr>
          <p:cNvPicPr>
            <a:picLocks noChangeAspect="1"/>
          </p:cNvPicPr>
          <p:nvPr/>
        </p:nvPicPr>
        <p:blipFill>
          <a:blip r:embed="rId1"/>
          <a:stretch>
            <a:fillRect/>
          </a:stretch>
        </p:blipFill>
        <p:spPr>
          <a:xfrm>
            <a:off x="8465515" y="1927555"/>
            <a:ext cx="351130" cy="351130"/>
          </a:xfrm>
          <a:prstGeom prst="rect">
            <a:avLst/>
          </a:prstGeom>
        </p:spPr>
      </p:pic>
      <p:sp>
        <p:nvSpPr>
          <p:cNvPr id="21" name="Text 18"/>
          <p:cNvSpPr txBox="1"/>
          <p:nvPr/>
        </p:nvSpPr>
        <p:spPr>
          <a:xfrm>
            <a:off x="8275320" y="2606040"/>
            <a:ext cx="31089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The Sharia layer</a:t>
            </a:r>
            <a:endParaRPr lang="en-US" sz="2000" dirty="0"/>
          </a:p>
        </p:txBody>
      </p:sp>
      <p:sp>
        <p:nvSpPr>
          <p:cNvPr id="22" name="Text 19"/>
          <p:cNvSpPr txBox="1"/>
          <p:nvPr/>
        </p:nvSpPr>
        <p:spPr>
          <a:xfrm>
            <a:off x="8275320" y="3108960"/>
            <a:ext cx="3108960" cy="1920240"/>
          </a:xfrm>
          <a:prstGeom prst="rect">
            <a:avLst/>
          </a:prstGeom>
          <a:noFill/>
          <a:ln/>
        </p:spPr>
        <p:txBody>
          <a:bodyPr wrap="square" lIns="0" tIns="0" rIns="0" bIns="0" rtlCol="0" anchor="t"/>
          <a:lstStyle/>
          <a:p>
            <a:pPr indent="0" marL="0">
              <a:buNone/>
            </a:pPr>
            <a:r>
              <a:rPr lang="en-US" sz="1400" dirty="0">
                <a:solidFill>
                  <a:schemeClr val="bg2"/>
                </a:solidFill>
              </a:rPr>
              <a:t>Saudi courts apply Sharia principles that forbid harm and fraud. In theory this gives judges room to reach misuse the statute does not list (Vogel, 2000). In practice it is hard to measure, because few commercial judgments are published.</a:t>
            </a:r>
            <a:endParaRPr lang="en-US" sz="1400" dirty="0"/>
          </a:p>
        </p:txBody>
      </p:sp>
      <p:sp>
        <p:nvSpPr>
          <p:cNvPr id="23" name="Shape 20"/>
          <p:cNvSpPr/>
          <p:nvPr/>
        </p:nvSpPr>
        <p:spPr>
          <a:xfrm>
            <a:off x="548640" y="5440680"/>
            <a:ext cx="11064240" cy="685800"/>
          </a:xfrm>
          <a:prstGeom prst="roundRect">
            <a:avLst>
              <a:gd name="adj" fmla="val 13333"/>
            </a:avLst>
          </a:prstGeom>
          <a:solidFill>
            <a:schemeClr val="accent3">
              <a:alpha val="20000"/>
            </a:schemeClr>
          </a:solidFill>
          <a:ln w="12700">
            <a:solidFill>
              <a:schemeClr val="accent3">
                <a:alpha val="0"/>
              </a:schemeClr>
            </a:solidFill>
            <a:prstDash val="solid"/>
          </a:ln>
        </p:spPr>
      </p:sp>
      <p:sp>
        <p:nvSpPr>
          <p:cNvPr id="24" name="Text 21"/>
          <p:cNvSpPr txBox="1"/>
          <p:nvPr/>
        </p:nvSpPr>
        <p:spPr>
          <a:xfrm>
            <a:off x="822960" y="5440680"/>
            <a:ext cx="10607040" cy="685800"/>
          </a:xfrm>
          <a:prstGeom prst="rect">
            <a:avLst/>
          </a:prstGeom>
          <a:noFill/>
          <a:ln/>
        </p:spPr>
        <p:txBody>
          <a:bodyPr wrap="square" lIns="0" tIns="0" rIns="0" bIns="0" rtlCol="0" anchor="ctr"/>
          <a:lstStyle/>
          <a:p>
            <a:pPr indent="0" marL="0">
              <a:buNone/>
            </a:pPr>
            <a:r>
              <a:rPr lang="en-US" sz="1400" b="1" dirty="0">
                <a:solidFill>
                  <a:schemeClr val="tx1"/>
                </a:solidFill>
              </a:rPr>
              <a:t>Key point:  </a:t>
            </a:r>
            <a:pPr indent="0" marL="0">
              <a:buNone/>
            </a:pPr>
            <a:r>
              <a:rPr lang="en-US" sz="1400" dirty="0">
                <a:solidFill>
                  <a:schemeClr val="tx1"/>
                </a:solidFill>
              </a:rPr>
              <a:t>Article 28 lets third parties claim directly against managers and board members. UK law offers outsiders no equivalent route outside insolvency.</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United Kingdom: statute does most of the work</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2"/>
          </a:solidFill>
          <a:ln w="12700">
            <a:solidFill>
              <a:schemeClr val="accent2"/>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Monerah</a:t>
            </a:r>
            <a:pPr indent="0" marL="0">
              <a:buNone/>
            </a:pPr>
            <a:r>
              <a:rPr lang="en-US" sz="1200" dirty="0">
                <a:solidFill>
                  <a:schemeClr val="tx1"/>
                </a:solidFill>
              </a:rPr>
              <a:t>  5:00 – 10:00</a:t>
            </a:r>
            <a:endParaRPr lang="en-US" sz="1200" dirty="0"/>
          </a:p>
        </p:txBody>
      </p:sp>
      <p:sp>
        <p:nvSpPr>
          <p:cNvPr id="6" name="Text 4"/>
          <p:cNvSpPr txBox="1"/>
          <p:nvPr/>
        </p:nvSpPr>
        <p:spPr>
          <a:xfrm>
            <a:off x="548640" y="1188720"/>
            <a:ext cx="8778240" cy="365760"/>
          </a:xfrm>
          <a:prstGeom prst="rect">
            <a:avLst/>
          </a:prstGeom>
          <a:noFill/>
          <a:ln/>
        </p:spPr>
        <p:txBody>
          <a:bodyPr wrap="square" lIns="0" tIns="0" rIns="0" bIns="0" rtlCol="0" anchor="ctr"/>
          <a:lstStyle/>
          <a:p>
            <a:pPr indent="0" marL="0">
              <a:buNone/>
            </a:pPr>
            <a:r>
              <a:rPr lang="en-US" sz="1400" i="1" dirty="0">
                <a:solidFill>
                  <a:schemeClr val="accent5"/>
                </a:solidFill>
              </a:rPr>
              <a:t>Insolvency Act 1986: personal liability for your own conduct, with the veil left intact</a:t>
            </a:r>
            <a:endParaRPr lang="en-US" sz="1400" dirty="0"/>
          </a:p>
        </p:txBody>
      </p:sp>
      <p:sp>
        <p:nvSpPr>
          <p:cNvPr id="7" name="Shape 5"/>
          <p:cNvSpPr/>
          <p:nvPr/>
        </p:nvSpPr>
        <p:spPr>
          <a:xfrm>
            <a:off x="548640" y="1783080"/>
            <a:ext cx="5440680" cy="3337560"/>
          </a:xfrm>
          <a:prstGeom prst="roundRect">
            <a:avLst>
              <a:gd name="adj" fmla="val 328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8" name="Shape 6"/>
          <p:cNvSpPr/>
          <p:nvPr/>
        </p:nvSpPr>
        <p:spPr>
          <a:xfrm>
            <a:off x="868680" y="2011680"/>
            <a:ext cx="777240" cy="777240"/>
          </a:xfrm>
          <a:prstGeom prst="ellipse">
            <a:avLst/>
          </a:prstGeom>
          <a:solidFill>
            <a:srgbClr val="2F3C7E"/>
          </a:solidFill>
          <a:ln w="12700">
            <a:solidFill>
              <a:srgbClr val="2F3C7E"/>
            </a:solidFill>
            <a:prstDash val="solid"/>
          </a:ln>
        </p:spPr>
      </p:sp>
      <p:pic>
        <p:nvPicPr>
          <p:cNvPr id="9" name="Image 0" descr="preencoded.png">    </p:cNvPr>
          <p:cNvPicPr>
            <a:picLocks noChangeAspect="1"/>
          </p:cNvPicPr>
          <p:nvPr/>
        </p:nvPicPr>
        <p:blipFill>
          <a:blip r:embed="rId1"/>
          <a:stretch>
            <a:fillRect/>
          </a:stretch>
        </p:blipFill>
        <p:spPr>
          <a:xfrm>
            <a:off x="1070762" y="2213762"/>
            <a:ext cx="373075" cy="373075"/>
          </a:xfrm>
          <a:prstGeom prst="rect">
            <a:avLst/>
          </a:prstGeom>
        </p:spPr>
      </p:pic>
      <p:sp>
        <p:nvSpPr>
          <p:cNvPr id="10" name="Text 7"/>
          <p:cNvSpPr txBox="1"/>
          <p:nvPr/>
        </p:nvSpPr>
        <p:spPr>
          <a:xfrm>
            <a:off x="1828800" y="2011680"/>
            <a:ext cx="3840480" cy="365760"/>
          </a:xfrm>
          <a:prstGeom prst="rect">
            <a:avLst/>
          </a:prstGeom>
          <a:noFill/>
          <a:ln/>
        </p:spPr>
        <p:txBody>
          <a:bodyPr wrap="square" lIns="0" tIns="0" rIns="0" bIns="0" rtlCol="0" anchor="ctr"/>
          <a:lstStyle/>
          <a:p>
            <a:pPr indent="0" marL="0">
              <a:buNone/>
            </a:pPr>
            <a:r>
              <a:rPr lang="en-US" sz="1400" b="1" dirty="0">
                <a:solidFill>
                  <a:schemeClr val="accent2"/>
                </a:solidFill>
              </a:rPr>
              <a:t>s 213</a:t>
            </a:r>
            <a:endParaRPr lang="en-US" sz="1400" dirty="0"/>
          </a:p>
        </p:txBody>
      </p:sp>
      <p:sp>
        <p:nvSpPr>
          <p:cNvPr id="11" name="Text 8"/>
          <p:cNvSpPr txBox="1"/>
          <p:nvPr/>
        </p:nvSpPr>
        <p:spPr>
          <a:xfrm>
            <a:off x="1828800" y="2377440"/>
            <a:ext cx="3840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Fraudulent trading</a:t>
            </a:r>
            <a:endParaRPr lang="en-US" sz="2100" dirty="0"/>
          </a:p>
        </p:txBody>
      </p:sp>
      <p:sp>
        <p:nvSpPr>
          <p:cNvPr id="12" name="Text 9"/>
          <p:cNvSpPr txBox="1"/>
          <p:nvPr/>
        </p:nvSpPr>
        <p:spPr>
          <a:xfrm>
            <a:off x="868680" y="3017520"/>
            <a:ext cx="4800600" cy="20116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Who: </a:t>
            </a:r>
            <a:pPr indent="0" marL="0">
              <a:spcAft>
                <a:spcPts val="800"/>
              </a:spcAft>
              <a:buNone/>
            </a:pPr>
            <a:r>
              <a:rPr lang="en-US" sz="1500" dirty="0">
                <a:solidFill>
                  <a:schemeClr val="tx1"/>
                </a:solidFill>
              </a:rPr>
              <a:t>Any person knowingly party to the business</a:t>
            </a:r>
            <a:endParaRPr lang="en-US" sz="1500" dirty="0"/>
          </a:p>
          <a:p>
            <a:pPr indent="0" marL="0">
              <a:spcAft>
                <a:spcPts val="800"/>
              </a:spcAft>
              <a:buNone/>
            </a:pPr>
            <a:r>
              <a:rPr lang="en-US" sz="1500" b="1" dirty="0">
                <a:solidFill>
                  <a:schemeClr val="tx1"/>
                </a:solidFill>
              </a:rPr>
              <a:t>Test: </a:t>
            </a:r>
            <a:pPr indent="0" marL="0">
              <a:spcAft>
                <a:spcPts val="800"/>
              </a:spcAft>
              <a:buNone/>
            </a:pPr>
            <a:r>
              <a:rPr lang="en-US" sz="1500" dirty="0">
                <a:solidFill>
                  <a:schemeClr val="tx1"/>
                </a:solidFill>
              </a:rPr>
              <a:t>Business carried on with intent to defraud creditors, or for any fraudulent purpose</a:t>
            </a:r>
            <a:endParaRPr lang="en-US" sz="1500" dirty="0"/>
          </a:p>
        </p:txBody>
      </p:sp>
      <p:sp>
        <p:nvSpPr>
          <p:cNvPr id="13" name="Shape 10"/>
          <p:cNvSpPr/>
          <p:nvPr/>
        </p:nvSpPr>
        <p:spPr>
          <a:xfrm>
            <a:off x="6172200" y="1783080"/>
            <a:ext cx="5440680" cy="3337560"/>
          </a:xfrm>
          <a:prstGeom prst="roundRect">
            <a:avLst>
              <a:gd name="adj" fmla="val 3288"/>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4" name="Shape 11"/>
          <p:cNvSpPr/>
          <p:nvPr/>
        </p:nvSpPr>
        <p:spPr>
          <a:xfrm>
            <a:off x="6492240" y="2011680"/>
            <a:ext cx="777240" cy="777240"/>
          </a:xfrm>
          <a:prstGeom prst="ellipse">
            <a:avLst/>
          </a:prstGeom>
          <a:solidFill>
            <a:srgbClr val="2F3C7E"/>
          </a:solidFill>
          <a:ln w="12700">
            <a:solidFill>
              <a:srgbClr val="2F3C7E"/>
            </a:solidFill>
            <a:prstDash val="solid"/>
          </a:ln>
        </p:spPr>
      </p:sp>
      <p:pic>
        <p:nvPicPr>
          <p:cNvPr id="15" name="Image 1" descr="preencoded.png">    </p:cNvPr>
          <p:cNvPicPr>
            <a:picLocks noChangeAspect="1"/>
          </p:cNvPicPr>
          <p:nvPr/>
        </p:nvPicPr>
        <p:blipFill>
          <a:blip r:embed="rId2"/>
          <a:stretch>
            <a:fillRect/>
          </a:stretch>
        </p:blipFill>
        <p:spPr>
          <a:xfrm>
            <a:off x="6694322" y="2213762"/>
            <a:ext cx="373075" cy="373075"/>
          </a:xfrm>
          <a:prstGeom prst="rect">
            <a:avLst/>
          </a:prstGeom>
        </p:spPr>
      </p:pic>
      <p:sp>
        <p:nvSpPr>
          <p:cNvPr id="16" name="Text 12"/>
          <p:cNvSpPr txBox="1"/>
          <p:nvPr/>
        </p:nvSpPr>
        <p:spPr>
          <a:xfrm>
            <a:off x="7452360" y="2011680"/>
            <a:ext cx="3840480" cy="365760"/>
          </a:xfrm>
          <a:prstGeom prst="rect">
            <a:avLst/>
          </a:prstGeom>
          <a:noFill/>
          <a:ln/>
        </p:spPr>
        <p:txBody>
          <a:bodyPr wrap="square" lIns="0" tIns="0" rIns="0" bIns="0" rtlCol="0" anchor="ctr"/>
          <a:lstStyle/>
          <a:p>
            <a:pPr indent="0" marL="0">
              <a:buNone/>
            </a:pPr>
            <a:r>
              <a:rPr lang="en-US" sz="1400" b="1" dirty="0">
                <a:solidFill>
                  <a:schemeClr val="accent2"/>
                </a:solidFill>
              </a:rPr>
              <a:t>s 214</a:t>
            </a:r>
            <a:endParaRPr lang="en-US" sz="1400" dirty="0"/>
          </a:p>
        </p:txBody>
      </p:sp>
      <p:sp>
        <p:nvSpPr>
          <p:cNvPr id="17" name="Text 13"/>
          <p:cNvSpPr txBox="1"/>
          <p:nvPr/>
        </p:nvSpPr>
        <p:spPr>
          <a:xfrm>
            <a:off x="7452360" y="2377440"/>
            <a:ext cx="3840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Wrongful trading</a:t>
            </a:r>
            <a:endParaRPr lang="en-US" sz="2100" dirty="0"/>
          </a:p>
        </p:txBody>
      </p:sp>
      <p:sp>
        <p:nvSpPr>
          <p:cNvPr id="18" name="Text 14"/>
          <p:cNvSpPr txBox="1"/>
          <p:nvPr/>
        </p:nvSpPr>
        <p:spPr>
          <a:xfrm>
            <a:off x="6492240" y="3017520"/>
            <a:ext cx="4800600" cy="201168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Who: </a:t>
            </a:r>
            <a:pPr indent="0" marL="0">
              <a:spcAft>
                <a:spcPts val="800"/>
              </a:spcAft>
              <a:buNone/>
            </a:pPr>
            <a:r>
              <a:rPr lang="en-US" sz="1500" dirty="0">
                <a:solidFill>
                  <a:schemeClr val="tx1"/>
                </a:solidFill>
              </a:rPr>
              <a:t>Directors and shadow directors</a:t>
            </a:r>
            <a:endParaRPr lang="en-US" sz="1500" dirty="0"/>
          </a:p>
          <a:p>
            <a:pPr indent="0" marL="0">
              <a:spcAft>
                <a:spcPts val="800"/>
              </a:spcAft>
              <a:buNone/>
            </a:pPr>
            <a:r>
              <a:rPr lang="en-US" sz="1500" b="1" dirty="0">
                <a:solidFill>
                  <a:schemeClr val="tx1"/>
                </a:solidFill>
              </a:rPr>
              <a:t>Test: </a:t>
            </a:r>
            <a:pPr indent="0" marL="0">
              <a:spcAft>
                <a:spcPts val="800"/>
              </a:spcAft>
              <a:buNone/>
            </a:pPr>
            <a:r>
              <a:rPr lang="en-US" sz="1500" dirty="0">
                <a:solidFill>
                  <a:schemeClr val="tx1"/>
                </a:solidFill>
              </a:rPr>
              <a:t>Knew, or ought to have concluded, that insolvent liquidation could not reasonably be avoided. Defence: took every step to minimise creditors' loss</a:t>
            </a:r>
            <a:endParaRPr lang="en-US" sz="1500" dirty="0"/>
          </a:p>
        </p:txBody>
      </p:sp>
      <p:sp>
        <p:nvSpPr>
          <p:cNvPr id="19" name="Shape 15"/>
          <p:cNvSpPr/>
          <p:nvPr/>
        </p:nvSpPr>
        <p:spPr>
          <a:xfrm>
            <a:off x="548640" y="5394960"/>
            <a:ext cx="11064240" cy="731520"/>
          </a:xfrm>
          <a:prstGeom prst="roundRect">
            <a:avLst>
              <a:gd name="adj" fmla="val 12500"/>
            </a:avLst>
          </a:prstGeom>
          <a:solidFill>
            <a:schemeClr val="tx1"/>
          </a:solidFill>
          <a:ln w="12700">
            <a:solidFill>
              <a:schemeClr val="tx1"/>
            </a:solidFill>
            <a:prstDash val="solid"/>
          </a:ln>
        </p:spPr>
      </p:sp>
      <p:sp>
        <p:nvSpPr>
          <p:cNvPr id="20" name="Text 16"/>
          <p:cNvSpPr txBox="1"/>
          <p:nvPr/>
        </p:nvSpPr>
        <p:spPr>
          <a:xfrm>
            <a:off x="822960" y="5394960"/>
            <a:ext cx="10607040" cy="731520"/>
          </a:xfrm>
          <a:prstGeom prst="rect">
            <a:avLst/>
          </a:prstGeom>
          <a:noFill/>
          <a:ln/>
        </p:spPr>
        <p:txBody>
          <a:bodyPr wrap="square" lIns="0" tIns="0" rIns="0" bIns="0" rtlCol="0" anchor="ctr"/>
          <a:lstStyle/>
          <a:p>
            <a:pPr indent="0" marL="0">
              <a:buNone/>
            </a:pPr>
            <a:r>
              <a:rPr lang="en-US" sz="1500" b="1" dirty="0">
                <a:solidFill>
                  <a:schemeClr val="accent3"/>
                </a:solidFill>
              </a:rPr>
              <a:t>Remedy:  </a:t>
            </a:r>
            <a:pPr indent="0" marL="0">
              <a:buNone/>
            </a:pPr>
            <a:r>
              <a:rPr lang="en-US" sz="1500" dirty="0">
                <a:solidFill>
                  <a:schemeClr val="bg1"/>
                </a:solidFill>
              </a:rPr>
              <a:t>the court orders a contribution to the company's assets for all creditors. Only available once the company is in insolvent liquidation.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United Kingdom: the courts narrow the door</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2"/>
          </a:solidFill>
          <a:ln w="12700">
            <a:solidFill>
              <a:schemeClr val="accent2"/>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Monerah</a:t>
            </a:r>
            <a:pPr indent="0" marL="0">
              <a:buNone/>
            </a:pPr>
            <a:r>
              <a:rPr lang="en-US" sz="1200" dirty="0">
                <a:solidFill>
                  <a:schemeClr val="tx1"/>
                </a:solidFill>
              </a:rPr>
              <a:t>  5:00 – 10:00</a:t>
            </a:r>
            <a:endParaRPr lang="en-US" sz="1200" dirty="0"/>
          </a:p>
        </p:txBody>
      </p:sp>
      <p:sp>
        <p:nvSpPr>
          <p:cNvPr id="6" name="Shape 4"/>
          <p:cNvSpPr/>
          <p:nvPr/>
        </p:nvSpPr>
        <p:spPr>
          <a:xfrm>
            <a:off x="822960" y="2011680"/>
            <a:ext cx="10607040" cy="0"/>
          </a:xfrm>
          <a:prstGeom prst="line">
            <a:avLst/>
          </a:prstGeom>
          <a:noFill/>
          <a:ln w="25400">
            <a:solidFill>
              <a:srgbClr val="5C6B73"/>
            </a:solidFill>
            <a:prstDash val="solid"/>
          </a:ln>
        </p:spPr>
      </p:sp>
      <p:sp>
        <p:nvSpPr>
          <p:cNvPr id="7" name="Shape 5"/>
          <p:cNvSpPr/>
          <p:nvPr/>
        </p:nvSpPr>
        <p:spPr>
          <a:xfrm>
            <a:off x="822960" y="1783080"/>
            <a:ext cx="457200" cy="457200"/>
          </a:xfrm>
          <a:prstGeom prst="ellipse">
            <a:avLst/>
          </a:prstGeom>
          <a:solidFill>
            <a:srgbClr val="0F6B53"/>
          </a:solidFill>
          <a:ln w="38100">
            <a:solidFill>
              <a:srgbClr val="FFFFFF"/>
            </a:solidFill>
            <a:prstDash val="solid"/>
          </a:ln>
        </p:spPr>
      </p:sp>
      <p:sp>
        <p:nvSpPr>
          <p:cNvPr id="8" name="Text 6"/>
          <p:cNvSpPr txBox="1"/>
          <p:nvPr/>
        </p:nvSpPr>
        <p:spPr>
          <a:xfrm>
            <a:off x="1371600" y="1783080"/>
            <a:ext cx="868680" cy="457200"/>
          </a:xfrm>
          <a:prstGeom prst="rect">
            <a:avLst/>
          </a:prstGeom>
          <a:solidFill>
            <a:schemeClr val="bg1"/>
          </a:solid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1933</a:t>
            </a:r>
            <a:endParaRPr lang="en-US" sz="2400" dirty="0"/>
          </a:p>
        </p:txBody>
      </p:sp>
      <p:sp>
        <p:nvSpPr>
          <p:cNvPr id="9" name="Shape 7"/>
          <p:cNvSpPr/>
          <p:nvPr/>
        </p:nvSpPr>
        <p:spPr>
          <a:xfrm>
            <a:off x="548640" y="256032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0" name="Text 8"/>
          <p:cNvSpPr txBox="1"/>
          <p:nvPr/>
        </p:nvSpPr>
        <p:spPr>
          <a:xfrm>
            <a:off x="777240" y="2743200"/>
            <a:ext cx="2148840" cy="868680"/>
          </a:xfrm>
          <a:prstGeom prst="rect">
            <a:avLst/>
          </a:prstGeom>
          <a:noFill/>
          <a:ln/>
        </p:spPr>
        <p:txBody>
          <a:bodyPr wrap="square" lIns="0" tIns="0" rIns="0" bIns="0" rtlCol="0" anchor="t"/>
          <a:lstStyle/>
          <a:p>
            <a:pPr indent="0" marL="0">
              <a:buNone/>
            </a:pPr>
            <a:r>
              <a:rPr lang="en-US" sz="1700" b="1" i="1" dirty="0">
                <a:solidFill>
                  <a:schemeClr val="tx1"/>
                </a:solidFill>
              </a:rPr>
              <a:t>Gilford Motor Co v Horne</a:t>
            </a:r>
            <a:endParaRPr lang="en-US" sz="1700" dirty="0"/>
          </a:p>
        </p:txBody>
      </p:sp>
      <p:sp>
        <p:nvSpPr>
          <p:cNvPr id="11" name="Text 9"/>
          <p:cNvSpPr txBox="1"/>
          <p:nvPr/>
        </p:nvSpPr>
        <p:spPr>
          <a:xfrm>
            <a:off x="777240" y="3611880"/>
            <a:ext cx="2148840" cy="1828800"/>
          </a:xfrm>
          <a:prstGeom prst="rect">
            <a:avLst/>
          </a:prstGeom>
          <a:noFill/>
          <a:ln/>
        </p:spPr>
        <p:txBody>
          <a:bodyPr wrap="square" lIns="0" tIns="0" rIns="0" bIns="0" rtlCol="0" anchor="t"/>
          <a:lstStyle/>
          <a:p>
            <a:pPr indent="0" marL="0">
              <a:buNone/>
            </a:pPr>
            <a:r>
              <a:rPr lang="en-US" sz="1400" dirty="0">
                <a:solidFill>
                  <a:schemeClr val="tx1"/>
                </a:solidFill>
              </a:rPr>
              <a:t>Ex-employee used a company to dodge a non-solicitation covenant. Injunction granted against him and the company: a 'sham'.</a:t>
            </a:r>
            <a:endParaRPr lang="en-US" sz="1400" dirty="0"/>
          </a:p>
        </p:txBody>
      </p:sp>
      <p:sp>
        <p:nvSpPr>
          <p:cNvPr id="12" name="Text 10"/>
          <p:cNvSpPr txBox="1"/>
          <p:nvPr/>
        </p:nvSpPr>
        <p:spPr>
          <a:xfrm>
            <a:off x="777240" y="5577840"/>
            <a:ext cx="214884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VEIL LIFTED</a:t>
            </a:r>
            <a:endParaRPr lang="en-US" sz="1200" dirty="0"/>
          </a:p>
        </p:txBody>
      </p:sp>
      <p:sp>
        <p:nvSpPr>
          <p:cNvPr id="13" name="Shape 11"/>
          <p:cNvSpPr/>
          <p:nvPr/>
        </p:nvSpPr>
        <p:spPr>
          <a:xfrm>
            <a:off x="3639312" y="1783080"/>
            <a:ext cx="457200" cy="457200"/>
          </a:xfrm>
          <a:prstGeom prst="ellipse">
            <a:avLst/>
          </a:prstGeom>
          <a:solidFill>
            <a:srgbClr val="0F6B53"/>
          </a:solidFill>
          <a:ln w="38100">
            <a:solidFill>
              <a:srgbClr val="FFFFFF"/>
            </a:solidFill>
            <a:prstDash val="solid"/>
          </a:ln>
        </p:spPr>
      </p:sp>
      <p:sp>
        <p:nvSpPr>
          <p:cNvPr id="14" name="Text 12"/>
          <p:cNvSpPr txBox="1"/>
          <p:nvPr/>
        </p:nvSpPr>
        <p:spPr>
          <a:xfrm>
            <a:off x="4187952" y="1783080"/>
            <a:ext cx="868680" cy="457200"/>
          </a:xfrm>
          <a:prstGeom prst="rect">
            <a:avLst/>
          </a:prstGeom>
          <a:solidFill>
            <a:schemeClr val="bg1"/>
          </a:solid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1962</a:t>
            </a:r>
            <a:endParaRPr lang="en-US" sz="2400" dirty="0"/>
          </a:p>
        </p:txBody>
      </p:sp>
      <p:sp>
        <p:nvSpPr>
          <p:cNvPr id="15" name="Shape 13"/>
          <p:cNvSpPr/>
          <p:nvPr/>
        </p:nvSpPr>
        <p:spPr>
          <a:xfrm>
            <a:off x="3364992" y="256032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6" name="Text 14"/>
          <p:cNvSpPr txBox="1"/>
          <p:nvPr/>
        </p:nvSpPr>
        <p:spPr>
          <a:xfrm>
            <a:off x="3593592" y="2743200"/>
            <a:ext cx="2148840" cy="868680"/>
          </a:xfrm>
          <a:prstGeom prst="rect">
            <a:avLst/>
          </a:prstGeom>
          <a:noFill/>
          <a:ln/>
        </p:spPr>
        <p:txBody>
          <a:bodyPr wrap="square" lIns="0" tIns="0" rIns="0" bIns="0" rtlCol="0" anchor="t"/>
          <a:lstStyle/>
          <a:p>
            <a:pPr indent="0" marL="0">
              <a:buNone/>
            </a:pPr>
            <a:r>
              <a:rPr lang="en-US" sz="1700" b="1" i="1" dirty="0">
                <a:solidFill>
                  <a:schemeClr val="tx1"/>
                </a:solidFill>
              </a:rPr>
              <a:t>Jones v Lipman</a:t>
            </a:r>
            <a:endParaRPr lang="en-US" sz="1700" dirty="0"/>
          </a:p>
        </p:txBody>
      </p:sp>
      <p:sp>
        <p:nvSpPr>
          <p:cNvPr id="17" name="Text 15"/>
          <p:cNvSpPr txBox="1"/>
          <p:nvPr/>
        </p:nvSpPr>
        <p:spPr>
          <a:xfrm>
            <a:off x="3593592" y="3611880"/>
            <a:ext cx="2148840" cy="1828800"/>
          </a:xfrm>
          <a:prstGeom prst="rect">
            <a:avLst/>
          </a:prstGeom>
          <a:noFill/>
          <a:ln/>
        </p:spPr>
        <p:txBody>
          <a:bodyPr wrap="square" lIns="0" tIns="0" rIns="0" bIns="0" rtlCol="0" anchor="t"/>
          <a:lstStyle/>
          <a:p>
            <a:pPr indent="0" marL="0">
              <a:buNone/>
            </a:pPr>
            <a:r>
              <a:rPr lang="en-US" sz="1400" dirty="0">
                <a:solidFill>
                  <a:schemeClr val="tx1"/>
                </a:solidFill>
              </a:rPr>
              <a:t>Seller moved land into his company to avoid completing a sale. Specific performance ordered against the company.</a:t>
            </a:r>
            <a:endParaRPr lang="en-US" sz="1400" dirty="0"/>
          </a:p>
        </p:txBody>
      </p:sp>
      <p:sp>
        <p:nvSpPr>
          <p:cNvPr id="18" name="Text 16"/>
          <p:cNvSpPr txBox="1"/>
          <p:nvPr/>
        </p:nvSpPr>
        <p:spPr>
          <a:xfrm>
            <a:off x="3593592" y="5577840"/>
            <a:ext cx="214884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VEIL LIFTED</a:t>
            </a:r>
            <a:endParaRPr lang="en-US" sz="1200" dirty="0"/>
          </a:p>
        </p:txBody>
      </p:sp>
      <p:sp>
        <p:nvSpPr>
          <p:cNvPr id="19" name="Shape 17"/>
          <p:cNvSpPr/>
          <p:nvPr/>
        </p:nvSpPr>
        <p:spPr>
          <a:xfrm>
            <a:off x="6455664" y="1783080"/>
            <a:ext cx="457200" cy="457200"/>
          </a:xfrm>
          <a:prstGeom prst="ellipse">
            <a:avLst/>
          </a:prstGeom>
          <a:solidFill>
            <a:srgbClr val="B23A48"/>
          </a:solidFill>
          <a:ln w="38100">
            <a:solidFill>
              <a:srgbClr val="FFFFFF"/>
            </a:solidFill>
            <a:prstDash val="solid"/>
          </a:ln>
        </p:spPr>
      </p:sp>
      <p:sp>
        <p:nvSpPr>
          <p:cNvPr id="20" name="Text 18"/>
          <p:cNvSpPr txBox="1"/>
          <p:nvPr/>
        </p:nvSpPr>
        <p:spPr>
          <a:xfrm>
            <a:off x="7004304" y="1783080"/>
            <a:ext cx="868680" cy="457200"/>
          </a:xfrm>
          <a:prstGeom prst="rect">
            <a:avLst/>
          </a:prstGeom>
          <a:solidFill>
            <a:schemeClr val="bg1"/>
          </a:solid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1990</a:t>
            </a:r>
            <a:endParaRPr lang="en-US" sz="2400" dirty="0"/>
          </a:p>
        </p:txBody>
      </p:sp>
      <p:sp>
        <p:nvSpPr>
          <p:cNvPr id="21" name="Shape 19"/>
          <p:cNvSpPr/>
          <p:nvPr/>
        </p:nvSpPr>
        <p:spPr>
          <a:xfrm>
            <a:off x="6181344" y="256032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22" name="Text 20"/>
          <p:cNvSpPr txBox="1"/>
          <p:nvPr/>
        </p:nvSpPr>
        <p:spPr>
          <a:xfrm>
            <a:off x="6409944" y="2743200"/>
            <a:ext cx="2148840" cy="868680"/>
          </a:xfrm>
          <a:prstGeom prst="rect">
            <a:avLst/>
          </a:prstGeom>
          <a:noFill/>
          <a:ln/>
        </p:spPr>
        <p:txBody>
          <a:bodyPr wrap="square" lIns="0" tIns="0" rIns="0" bIns="0" rtlCol="0" anchor="t"/>
          <a:lstStyle/>
          <a:p>
            <a:pPr indent="0" marL="0">
              <a:buNone/>
            </a:pPr>
            <a:r>
              <a:rPr lang="en-US" sz="1700" b="1" i="1" dirty="0">
                <a:solidFill>
                  <a:schemeClr val="tx1"/>
                </a:solidFill>
              </a:rPr>
              <a:t>Adams v Cape Industries</a:t>
            </a:r>
            <a:endParaRPr lang="en-US" sz="1700" dirty="0"/>
          </a:p>
        </p:txBody>
      </p:sp>
      <p:sp>
        <p:nvSpPr>
          <p:cNvPr id="23" name="Text 21"/>
          <p:cNvSpPr txBox="1"/>
          <p:nvPr/>
        </p:nvSpPr>
        <p:spPr>
          <a:xfrm>
            <a:off x="6409944" y="3611880"/>
            <a:ext cx="2148840" cy="1828800"/>
          </a:xfrm>
          <a:prstGeom prst="rect">
            <a:avLst/>
          </a:prstGeom>
          <a:noFill/>
          <a:ln/>
        </p:spPr>
        <p:txBody>
          <a:bodyPr wrap="square" lIns="0" tIns="0" rIns="0" bIns="0" rtlCol="0" anchor="t"/>
          <a:lstStyle/>
          <a:p>
            <a:pPr indent="0" marL="0">
              <a:buNone/>
            </a:pPr>
            <a:r>
              <a:rPr lang="en-US" sz="1400" dirty="0">
                <a:solidFill>
                  <a:schemeClr val="tx1"/>
                </a:solidFill>
              </a:rPr>
              <a:t>No piercing just because justice seems to require it. A corporate group is not one economic unit.</a:t>
            </a:r>
            <a:endParaRPr lang="en-US" sz="1400" dirty="0"/>
          </a:p>
        </p:txBody>
      </p:sp>
      <p:sp>
        <p:nvSpPr>
          <p:cNvPr id="24" name="Text 22"/>
          <p:cNvSpPr txBox="1"/>
          <p:nvPr/>
        </p:nvSpPr>
        <p:spPr>
          <a:xfrm>
            <a:off x="6409944" y="5577840"/>
            <a:ext cx="2148840" cy="365760"/>
          </a:xfrm>
          <a:prstGeom prst="rect">
            <a:avLst/>
          </a:prstGeom>
          <a:noFill/>
          <a:ln/>
        </p:spPr>
        <p:txBody>
          <a:bodyPr wrap="square" lIns="0" tIns="0" rIns="0" bIns="0" rtlCol="0" anchor="ctr"/>
          <a:lstStyle/>
          <a:p>
            <a:pPr indent="0" marL="0">
              <a:buNone/>
            </a:pPr>
            <a:r>
              <a:rPr lang="en-US" sz="1200" b="1" spc="200" kern="0" dirty="0">
                <a:solidFill>
                  <a:schemeClr val="accent4"/>
                </a:solidFill>
              </a:rPr>
              <a:t>VEIL HELD</a:t>
            </a:r>
            <a:endParaRPr lang="en-US" sz="1200" dirty="0"/>
          </a:p>
        </p:txBody>
      </p:sp>
      <p:sp>
        <p:nvSpPr>
          <p:cNvPr id="25" name="Shape 23"/>
          <p:cNvSpPr/>
          <p:nvPr/>
        </p:nvSpPr>
        <p:spPr>
          <a:xfrm>
            <a:off x="9272016" y="1783080"/>
            <a:ext cx="457200" cy="457200"/>
          </a:xfrm>
          <a:prstGeom prst="ellipse">
            <a:avLst/>
          </a:prstGeom>
          <a:solidFill>
            <a:srgbClr val="B23A48"/>
          </a:solidFill>
          <a:ln w="38100">
            <a:solidFill>
              <a:srgbClr val="FFFFFF"/>
            </a:solidFill>
            <a:prstDash val="solid"/>
          </a:ln>
        </p:spPr>
      </p:sp>
      <p:sp>
        <p:nvSpPr>
          <p:cNvPr id="26" name="Text 24"/>
          <p:cNvSpPr txBox="1"/>
          <p:nvPr/>
        </p:nvSpPr>
        <p:spPr>
          <a:xfrm>
            <a:off x="9820656" y="1783080"/>
            <a:ext cx="868680" cy="457200"/>
          </a:xfrm>
          <a:prstGeom prst="rect">
            <a:avLst/>
          </a:prstGeom>
          <a:solidFill>
            <a:schemeClr val="bg1"/>
          </a:solid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2013</a:t>
            </a:r>
            <a:endParaRPr lang="en-US" sz="2400" dirty="0"/>
          </a:p>
        </p:txBody>
      </p:sp>
      <p:sp>
        <p:nvSpPr>
          <p:cNvPr id="27" name="Shape 25"/>
          <p:cNvSpPr/>
          <p:nvPr/>
        </p:nvSpPr>
        <p:spPr>
          <a:xfrm>
            <a:off x="8997696" y="2560320"/>
            <a:ext cx="2606040" cy="356616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28" name="Text 26"/>
          <p:cNvSpPr txBox="1"/>
          <p:nvPr/>
        </p:nvSpPr>
        <p:spPr>
          <a:xfrm>
            <a:off x="9226296" y="2743200"/>
            <a:ext cx="2148840" cy="868680"/>
          </a:xfrm>
          <a:prstGeom prst="rect">
            <a:avLst/>
          </a:prstGeom>
          <a:noFill/>
          <a:ln/>
        </p:spPr>
        <p:txBody>
          <a:bodyPr wrap="square" lIns="0" tIns="0" rIns="0" bIns="0" rtlCol="0" anchor="t"/>
          <a:lstStyle/>
          <a:p>
            <a:pPr indent="0" marL="0">
              <a:buNone/>
            </a:pPr>
            <a:r>
              <a:rPr lang="en-US" sz="1700" b="1" i="1" dirty="0">
                <a:solidFill>
                  <a:schemeClr val="tx1"/>
                </a:solidFill>
              </a:rPr>
              <a:t>Prest v Petrodel</a:t>
            </a:r>
            <a:endParaRPr lang="en-US" sz="1700" dirty="0"/>
          </a:p>
        </p:txBody>
      </p:sp>
      <p:sp>
        <p:nvSpPr>
          <p:cNvPr id="29" name="Text 27"/>
          <p:cNvSpPr txBox="1"/>
          <p:nvPr/>
        </p:nvSpPr>
        <p:spPr>
          <a:xfrm>
            <a:off x="9226296" y="3611880"/>
            <a:ext cx="2148840" cy="1828800"/>
          </a:xfrm>
          <a:prstGeom prst="rect">
            <a:avLst/>
          </a:prstGeom>
          <a:noFill/>
          <a:ln/>
        </p:spPr>
        <p:txBody>
          <a:bodyPr wrap="square" lIns="0" tIns="0" rIns="0" bIns="0" rtlCol="0" anchor="t"/>
          <a:lstStyle/>
          <a:p>
            <a:pPr indent="0" marL="0">
              <a:buNone/>
            </a:pPr>
            <a:r>
              <a:rPr lang="en-US" sz="1400" dirty="0">
                <a:solidFill>
                  <a:schemeClr val="tx1"/>
                </a:solidFill>
              </a:rPr>
              <a:t>Piercing limited to the evasion principle, and only as a last resort.</a:t>
            </a:r>
            <a:endParaRPr lang="en-US" sz="1400" dirty="0"/>
          </a:p>
        </p:txBody>
      </p:sp>
      <p:sp>
        <p:nvSpPr>
          <p:cNvPr id="30" name="Text 28"/>
          <p:cNvSpPr txBox="1"/>
          <p:nvPr/>
        </p:nvSpPr>
        <p:spPr>
          <a:xfrm>
            <a:off x="9226296" y="5577840"/>
            <a:ext cx="2148840" cy="365760"/>
          </a:xfrm>
          <a:prstGeom prst="rect">
            <a:avLst/>
          </a:prstGeom>
          <a:noFill/>
          <a:ln/>
        </p:spPr>
        <p:txBody>
          <a:bodyPr wrap="square" lIns="0" tIns="0" rIns="0" bIns="0" rtlCol="0" anchor="ctr"/>
          <a:lstStyle/>
          <a:p>
            <a:pPr indent="0" marL="0">
              <a:buNone/>
            </a:pPr>
            <a:r>
              <a:rPr lang="en-US" sz="1200" b="1" spc="200" kern="0" dirty="0">
                <a:solidFill>
                  <a:schemeClr val="accent4"/>
                </a:solidFill>
              </a:rPr>
              <a:t>VEIL HELD</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Prest v Petrodel Resources Ltd [2013] UKSC 34</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2"/>
          </a:solidFill>
          <a:ln w="12700">
            <a:solidFill>
              <a:schemeClr val="accent2"/>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Monerah</a:t>
            </a:r>
            <a:pPr indent="0" marL="0">
              <a:buNone/>
            </a:pPr>
            <a:r>
              <a:rPr lang="en-US" sz="1200" dirty="0">
                <a:solidFill>
                  <a:schemeClr val="tx1"/>
                </a:solidFill>
              </a:rPr>
              <a:t>  5:00 – 10:00</a:t>
            </a:r>
            <a:endParaRPr lang="en-US" sz="1200" dirty="0"/>
          </a:p>
        </p:txBody>
      </p:sp>
      <p:sp>
        <p:nvSpPr>
          <p:cNvPr id="6" name="Text 4"/>
          <p:cNvSpPr txBox="1"/>
          <p:nvPr/>
        </p:nvSpPr>
        <p:spPr>
          <a:xfrm>
            <a:off x="548640" y="1188720"/>
            <a:ext cx="8778240" cy="685800"/>
          </a:xfrm>
          <a:prstGeom prst="rect">
            <a:avLst/>
          </a:prstGeom>
          <a:noFill/>
          <a:ln/>
        </p:spPr>
        <p:txBody>
          <a:bodyPr wrap="square" lIns="0" tIns="0" rIns="0" bIns="0" rtlCol="0" anchor="t"/>
          <a:lstStyle/>
          <a:p>
            <a:pPr indent="0" marL="0">
              <a:buNone/>
            </a:pPr>
            <a:r>
              <a:rPr lang="en-US" sz="1500" i="1" dirty="0">
                <a:solidFill>
                  <a:schemeClr val="accent5"/>
                </a:solidFill>
              </a:rPr>
              <a:t>Divorce proceedings: London properties sat in companies controlled by Mr Prest. Could they be used to satisfy the award to his wife?</a:t>
            </a:r>
            <a:endParaRPr lang="en-US" sz="1500" dirty="0"/>
          </a:p>
        </p:txBody>
      </p:sp>
      <p:sp>
        <p:nvSpPr>
          <p:cNvPr id="7" name="Shape 5"/>
          <p:cNvSpPr/>
          <p:nvPr/>
        </p:nvSpPr>
        <p:spPr>
          <a:xfrm>
            <a:off x="548640" y="2103120"/>
            <a:ext cx="5440680"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8" name="Shape 6"/>
          <p:cNvSpPr/>
          <p:nvPr/>
        </p:nvSpPr>
        <p:spPr>
          <a:xfrm>
            <a:off x="868680" y="2331720"/>
            <a:ext cx="731520" cy="731520"/>
          </a:xfrm>
          <a:prstGeom prst="ellipse">
            <a:avLst/>
          </a:prstGeom>
          <a:solidFill>
            <a:srgbClr val="5C6B73"/>
          </a:solidFill>
          <a:ln w="12700">
            <a:solidFill>
              <a:srgbClr val="5C6B73"/>
            </a:solidFill>
            <a:prstDash val="solid"/>
          </a:ln>
        </p:spPr>
      </p:sp>
      <p:pic>
        <p:nvPicPr>
          <p:cNvPr id="9" name="Image 0" descr="preencoded.png">    </p:cNvPr>
          <p:cNvPicPr>
            <a:picLocks noChangeAspect="1"/>
          </p:cNvPicPr>
          <p:nvPr/>
        </p:nvPicPr>
        <p:blipFill>
          <a:blip r:embed="rId1"/>
          <a:stretch>
            <a:fillRect/>
          </a:stretch>
        </p:blipFill>
        <p:spPr>
          <a:xfrm>
            <a:off x="1058875" y="2521915"/>
            <a:ext cx="351130" cy="351130"/>
          </a:xfrm>
          <a:prstGeom prst="rect">
            <a:avLst/>
          </a:prstGeom>
        </p:spPr>
      </p:pic>
      <p:sp>
        <p:nvSpPr>
          <p:cNvPr id="10" name="Text 7"/>
          <p:cNvSpPr txBox="1"/>
          <p:nvPr/>
        </p:nvSpPr>
        <p:spPr>
          <a:xfrm>
            <a:off x="1783080" y="2331720"/>
            <a:ext cx="3931920" cy="7315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Concealment principle</a:t>
            </a:r>
            <a:endParaRPr lang="en-US" sz="2000" dirty="0"/>
          </a:p>
        </p:txBody>
      </p:sp>
      <p:sp>
        <p:nvSpPr>
          <p:cNvPr id="11" name="Text 8"/>
          <p:cNvSpPr txBox="1"/>
          <p:nvPr/>
        </p:nvSpPr>
        <p:spPr>
          <a:xfrm>
            <a:off x="868680" y="3200400"/>
            <a:ext cx="4800600" cy="1188720"/>
          </a:xfrm>
          <a:prstGeom prst="rect">
            <a:avLst/>
          </a:prstGeom>
          <a:noFill/>
          <a:ln/>
        </p:spPr>
        <p:txBody>
          <a:bodyPr wrap="square" lIns="0" tIns="0" rIns="0" bIns="0" rtlCol="0" anchor="t"/>
          <a:lstStyle/>
          <a:p>
            <a:pPr indent="0" marL="0">
              <a:buNone/>
            </a:pPr>
            <a:r>
              <a:rPr lang="en-US" sz="1500" dirty="0">
                <a:solidFill>
                  <a:schemeClr val="tx1"/>
                </a:solidFill>
              </a:rPr>
              <a:t>The court looks behind the company to find the real actors. This is not piercing: the company's separate personality is respected.</a:t>
            </a:r>
            <a:endParaRPr lang="en-US" sz="1500" dirty="0"/>
          </a:p>
        </p:txBody>
      </p:sp>
      <p:sp>
        <p:nvSpPr>
          <p:cNvPr id="12" name="Shape 9"/>
          <p:cNvSpPr/>
          <p:nvPr/>
        </p:nvSpPr>
        <p:spPr>
          <a:xfrm>
            <a:off x="6172200" y="2103120"/>
            <a:ext cx="5440680"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3" name="Shape 10"/>
          <p:cNvSpPr/>
          <p:nvPr/>
        </p:nvSpPr>
        <p:spPr>
          <a:xfrm>
            <a:off x="6492240" y="2331720"/>
            <a:ext cx="731520" cy="731520"/>
          </a:xfrm>
          <a:prstGeom prst="ellipse">
            <a:avLst/>
          </a:prstGeom>
          <a:solidFill>
            <a:srgbClr val="2F3C7E"/>
          </a:solidFill>
          <a:ln w="12700">
            <a:solidFill>
              <a:srgbClr val="2F3C7E"/>
            </a:solidFill>
            <a:prstDash val="solid"/>
          </a:ln>
        </p:spPr>
      </p:sp>
      <p:pic>
        <p:nvPicPr>
          <p:cNvPr id="14" name="Image 1" descr="preencoded.png">    </p:cNvPr>
          <p:cNvPicPr>
            <a:picLocks noChangeAspect="1"/>
          </p:cNvPicPr>
          <p:nvPr/>
        </p:nvPicPr>
        <p:blipFill>
          <a:blip r:embed="rId2"/>
          <a:stretch>
            <a:fillRect/>
          </a:stretch>
        </p:blipFill>
        <p:spPr>
          <a:xfrm>
            <a:off x="6682435" y="2521915"/>
            <a:ext cx="351130" cy="351130"/>
          </a:xfrm>
          <a:prstGeom prst="rect">
            <a:avLst/>
          </a:prstGeom>
        </p:spPr>
      </p:pic>
      <p:sp>
        <p:nvSpPr>
          <p:cNvPr id="15" name="Text 11"/>
          <p:cNvSpPr txBox="1"/>
          <p:nvPr/>
        </p:nvSpPr>
        <p:spPr>
          <a:xfrm>
            <a:off x="7406640" y="2331720"/>
            <a:ext cx="3931920" cy="7315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Evasion principle</a:t>
            </a:r>
            <a:endParaRPr lang="en-US" sz="2000" dirty="0"/>
          </a:p>
        </p:txBody>
      </p:sp>
      <p:sp>
        <p:nvSpPr>
          <p:cNvPr id="16" name="Text 12"/>
          <p:cNvSpPr txBox="1"/>
          <p:nvPr/>
        </p:nvSpPr>
        <p:spPr>
          <a:xfrm>
            <a:off x="6492240" y="3200400"/>
            <a:ext cx="4800600" cy="1188720"/>
          </a:xfrm>
          <a:prstGeom prst="rect">
            <a:avLst/>
          </a:prstGeom>
          <a:noFill/>
          <a:ln/>
        </p:spPr>
        <p:txBody>
          <a:bodyPr wrap="square" lIns="0" tIns="0" rIns="0" bIns="0" rtlCol="0" anchor="t"/>
          <a:lstStyle/>
          <a:p>
            <a:pPr indent="0" marL="0">
              <a:buNone/>
            </a:pPr>
            <a:r>
              <a:rPr lang="en-US" sz="1500" dirty="0">
                <a:solidFill>
                  <a:schemeClr val="tx1"/>
                </a:solidFill>
              </a:rPr>
              <a:t>Piercing is possible only where a person is under an existing legal obligation and deliberately evades it through a company under their control. Last resort only.</a:t>
            </a:r>
            <a:endParaRPr lang="en-US" sz="1500" dirty="0"/>
          </a:p>
        </p:txBody>
      </p:sp>
      <p:sp>
        <p:nvSpPr>
          <p:cNvPr id="17" name="Shape 13"/>
          <p:cNvSpPr/>
          <p:nvPr/>
        </p:nvSpPr>
        <p:spPr>
          <a:xfrm>
            <a:off x="548640" y="4709160"/>
            <a:ext cx="11064240" cy="1417320"/>
          </a:xfrm>
          <a:prstGeom prst="roundRect">
            <a:avLst>
              <a:gd name="adj" fmla="val 6452"/>
            </a:avLst>
          </a:prstGeom>
          <a:solidFill>
            <a:schemeClr val="tx1"/>
          </a:solidFill>
          <a:ln w="12700">
            <a:solidFill>
              <a:schemeClr val="tx1"/>
            </a:solidFill>
            <a:prstDash val="solid"/>
          </a:ln>
        </p:spPr>
      </p:sp>
      <p:sp>
        <p:nvSpPr>
          <p:cNvPr id="18" name="Text 14"/>
          <p:cNvSpPr txBox="1"/>
          <p:nvPr/>
        </p:nvSpPr>
        <p:spPr>
          <a:xfrm>
            <a:off x="822960" y="4754880"/>
            <a:ext cx="10607040" cy="1325880"/>
          </a:xfrm>
          <a:prstGeom prst="rect">
            <a:avLst/>
          </a:prstGeom>
          <a:noFill/>
          <a:ln/>
        </p:spPr>
        <p:txBody>
          <a:bodyPr wrap="square" lIns="0" tIns="0" rIns="0" bIns="0" rtlCol="0" anchor="ctr"/>
          <a:lstStyle/>
          <a:p>
            <a:pPr indent="0" marL="0">
              <a:buNone/>
            </a:pPr>
            <a:r>
              <a:rPr lang="en-US" sz="1500" b="1" dirty="0">
                <a:solidFill>
                  <a:schemeClr val="accent3"/>
                </a:solidFill>
              </a:rPr>
              <a:t>Outcome  </a:t>
            </a:r>
            <a:endParaRPr lang="en-US" sz="1500" dirty="0"/>
          </a:p>
          <a:p>
            <a:pPr indent="0" marL="0">
              <a:buNone/>
            </a:pPr>
            <a:r>
              <a:rPr lang="en-US" sz="1500" dirty="0">
                <a:solidFill>
                  <a:schemeClr val="bg1"/>
                </a:solidFill>
              </a:rPr>
              <a:t>The veil was not pierced: the evasion principle did not apply. But the companies held the properties on resulting trust for Mr Prest, so they went to his wife through ordinary trust law. A different remedy did the job and the company stayed separate.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Side by side</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4389120"/>
                <a:gridCol w="4389120"/>
              </a:tblGrid>
              <a:tr h="457200">
                <a:tc>
                  <a:txBody>
                    <a:bodyPr/>
                    <a:lstStyle/>
                    <a:p>
                      <a:pPr indent="0" marL="0">
                        <a:buNone/>
                      </a:pPr>
                      <a:endParaRPr lang="en-US" sz="1200" dirty="0">
                        <a:latin typeface="Calibri" charset="0"/>
                        <a:ea typeface="Calibri" charset="0"/>
                        <a:cs typeface="Calibri" charset="0"/>
                      </a:endParaRPr>
                    </a:p>
                  </a:txBody>
                  <a:tcPr marL="109728" marR="109728" marT="54864" marB="54864">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FFFFF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Saudi Arabia</a:t>
                      </a:r>
                      <a:endParaRPr lang="en-US" sz="15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0F6B53"/>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United Kingdom</a:t>
                      </a:r>
                      <a:endParaRPr lang="en-US" sz="15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2F3C7E"/>
                    </a:solidFill>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Starting point</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Personality on registration (Art 9); members liable up to their contributions</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Salomon: separate personality and limited liability as the norm</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Source of exceptions</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Named statutory situations (Arts 8, 9, 28, 242)</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Statute (IA 1986 ss 213–214) plus a narrow common law doctrine</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What triggers liability</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Mostly objective: failure to register, acting pre-incorporation, breach or negligence</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Deliberate evasion of an existing obligation: hard to prove</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Directors vs third parties</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Direct claim under Art 28</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Mainly via insolvency provisions, for all creditors</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Role of judges</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Sharia principles against harm and fraud; few published judgments</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Piercing as a last resort (Prest)</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r h="713232">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Main gap</a:t>
                      </a:r>
                      <a:endParaRPr lang="en-US" sz="14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solidFill>
                      <a:srgbClr val="EEF3F1"/>
                    </a:solidFill>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No general anti-abuse rule outside the listed provisions</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Weak protection for involuntary creditors such as tort victims</a:t>
                      </a:r>
                      <a:endParaRPr lang="en-US" sz="1300" dirty="0">
                        <a:latin typeface="Calibri" charset="0"/>
                        <a:ea typeface="Calibri" charset="0"/>
                        <a:cs typeface="Calibri" charset="0"/>
                      </a:endParaRPr>
                    </a:p>
                  </a:txBody>
                  <a:tcPr marL="109728" marR="109728" marT="54864" marB="54864" anchor="ctr">
                    <a:lnL w="12700" cap="flat" cmpd="sng" algn="ctr">
                      <a:solidFill>
                        <a:srgbClr val="D9E2DE"/>
                      </a:solidFill>
                      <a:prstDash val="solid"/>
                      <a:round/>
                      <a:headEnd type="none" w="med" len="med"/>
                      <a:tailEnd type="none" w="med" len="med"/>
                    </a:lnL>
                    <a:lnR w="12700" cap="flat" cmpd="sng" algn="ctr">
                      <a:solidFill>
                        <a:srgbClr val="D9E2DE"/>
                      </a:solidFill>
                      <a:prstDash val="solid"/>
                      <a:round/>
                      <a:headEnd type="none" w="med" len="med"/>
                      <a:tailEnd type="none" w="med" len="med"/>
                    </a:lnR>
                    <a:lnT w="12700" cap="flat" cmpd="sng" algn="ctr">
                      <a:solidFill>
                        <a:srgbClr val="D9E2DE"/>
                      </a:solidFill>
                      <a:prstDash val="solid"/>
                      <a:round/>
                      <a:headEnd type="none" w="med" len="med"/>
                      <a:tailEnd type="none" w="med" len="med"/>
                    </a:lnT>
                    <a:lnB w="12700" cap="flat" cmpd="sng" algn="ctr">
                      <a:solidFill>
                        <a:srgbClr val="D9E2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Your turn: pierce or not?</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Text 4"/>
          <p:cNvSpPr txBox="1"/>
          <p:nvPr/>
        </p:nvSpPr>
        <p:spPr>
          <a:xfrm>
            <a:off x="548640" y="1188720"/>
            <a:ext cx="8778240" cy="365760"/>
          </a:xfrm>
          <a:prstGeom prst="rect">
            <a:avLst/>
          </a:prstGeom>
          <a:noFill/>
          <a:ln/>
        </p:spPr>
        <p:txBody>
          <a:bodyPr wrap="square" lIns="0" tIns="0" rIns="0" bIns="0" rtlCol="0" anchor="ctr"/>
          <a:lstStyle/>
          <a:p>
            <a:pPr indent="0" marL="0">
              <a:buNone/>
            </a:pPr>
            <a:r>
              <a:rPr lang="en-US" sz="1500" i="1" dirty="0">
                <a:solidFill>
                  <a:schemeClr val="accent5"/>
                </a:solidFill>
              </a:rPr>
              <a:t>Pick a scenario. Decide for each system, then click the card to reveal the answer.</a:t>
            </a:r>
            <a:endParaRPr lang="en-US" sz="1500" dirty="0"/>
          </a:p>
        </p:txBody>
      </p:sp>
      <p:sp>
        <p:nvSpPr>
          <p:cNvPr id="7" name="Scenario 1"/>
          <p:cNvSpPr/>
          <p:nvPr/>
        </p:nvSpPr>
        <p:spPr>
          <a:xfrm>
            <a:off x="548640" y="1783080"/>
            <a:ext cx="544068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8" name="Shape 6"/>
          <p:cNvSpPr/>
          <p:nvPr/>
        </p:nvSpPr>
        <p:spPr>
          <a:xfrm>
            <a:off x="822960" y="2057400"/>
            <a:ext cx="685800" cy="685800"/>
          </a:xfrm>
          <a:prstGeom prst="ellipse">
            <a:avLst/>
          </a:prstGeom>
          <a:solidFill>
            <a:srgbClr val="C9A227"/>
          </a:solidFill>
          <a:ln w="12700">
            <a:solidFill>
              <a:srgbClr val="C9A227"/>
            </a:solidFill>
            <a:prstDash val="solid"/>
          </a:ln>
        </p:spPr>
      </p:sp>
      <p:pic>
        <p:nvPicPr>
          <p:cNvPr id="9" name="Image 0" descr="preencoded.png">    </p:cNvPr>
          <p:cNvPicPr>
            <a:picLocks noChangeAspect="1"/>
          </p:cNvPicPr>
          <p:nvPr/>
        </p:nvPicPr>
        <p:blipFill>
          <a:blip r:embed="rId1"/>
          <a:stretch>
            <a:fillRect/>
          </a:stretch>
        </p:blipFill>
        <p:spPr>
          <a:xfrm>
            <a:off x="1001268" y="2235708"/>
            <a:ext cx="329184" cy="329184"/>
          </a:xfrm>
          <a:prstGeom prst="rect">
            <a:avLst/>
          </a:prstGeom>
        </p:spPr>
      </p:pic>
      <p:sp>
        <p:nvSpPr>
          <p:cNvPr id="10" name="Text 7"/>
          <p:cNvSpPr txBox="1"/>
          <p:nvPr/>
        </p:nvSpPr>
        <p:spPr>
          <a:xfrm>
            <a:off x="1691640" y="2057400"/>
            <a:ext cx="4023360" cy="685800"/>
          </a:xfrm>
          <a:prstGeom prst="rect">
            <a:avLst/>
          </a:prstGeom>
          <a:noFill/>
          <a:ln/>
        </p:spPr>
        <p:txBody>
          <a:bodyPr wrap="square" lIns="0" tIns="0" rIns="0" bIns="0" rtlCol="0" anchor="ctr"/>
          <a:lstStyle/>
          <a:p>
            <a:pPr indent="0" marL="0">
              <a:buNone/>
            </a:pPr>
            <a:r>
              <a:rPr lang="en-US" sz="1900" b="1" u="sng" dirty="0">
                <a:solidFill>
                  <a:schemeClr val="tx1"/>
                </a:solidFill>
                <a:latin typeface="Cambria" pitchFamily="34" charset="0"/>
                <a:ea typeface="Cambria" pitchFamily="34" charset="-122"/>
                <a:cs typeface="Cambria" pitchFamily="34" charset="-120"/>
                <a:hlinkClick r:id="rId2" action="ppaction://hlinksldjump" tooltip="Reveal answer">
                  <a:extLst>
                    <a:ext uri="{A12FA001-AC4F-418D-AE19-62706E023703}">
                      <ahyp:hlinkClr xmlns:ahyp="http://schemas.microsoft.com/office/drawing/2018/hyperlinkcolor" val="tx"/>
                    </a:ext>
                  </a:extLst>
                </a:hlinkClick>
              </a:rPr>
              <a:t>1  The land deal</a:t>
            </a:r>
            <a:endParaRPr lang="en-US" sz="1900" dirty="0"/>
          </a:p>
        </p:txBody>
      </p:sp>
      <p:sp>
        <p:nvSpPr>
          <p:cNvPr id="11" name="Text 8"/>
          <p:cNvSpPr txBox="1"/>
          <p:nvPr/>
        </p:nvSpPr>
        <p:spPr>
          <a:xfrm>
            <a:off x="822960" y="2788920"/>
            <a:ext cx="3931920" cy="868680"/>
          </a:xfrm>
          <a:prstGeom prst="rect">
            <a:avLst/>
          </a:prstGeom>
          <a:noFill/>
          <a:ln/>
        </p:spPr>
        <p:txBody>
          <a:bodyPr wrap="square" lIns="0" tIns="0" rIns="0" bIns="0" rtlCol="0" anchor="t"/>
          <a:lstStyle/>
          <a:p>
            <a:pPr indent="0" marL="0">
              <a:buNone/>
            </a:pPr>
            <a:r>
              <a:rPr lang="en-US" sz="1500" dirty="0">
                <a:solidFill>
                  <a:schemeClr val="tx1"/>
                </a:solidFill>
              </a:rPr>
              <a:t>Ahmed agrees to sell you land, then transfers it to a company he owns so he doesn't have to complete.</a:t>
            </a:r>
            <a:endParaRPr lang="en-US" sz="1500" dirty="0"/>
          </a:p>
        </p:txBody>
      </p:sp>
      <p:sp>
        <p:nvSpPr>
          <p:cNvPr id="12" name="Text 9"/>
          <p:cNvSpPr txBox="1"/>
          <p:nvPr/>
        </p:nvSpPr>
        <p:spPr>
          <a:xfrm>
            <a:off x="4800600" y="3246120"/>
            <a:ext cx="960120" cy="411480"/>
          </a:xfrm>
          <a:prstGeom prst="rect">
            <a:avLst/>
          </a:prstGeom>
          <a:noFill/>
          <a:ln/>
        </p:spPr>
        <p:txBody>
          <a:bodyPr wrap="square" lIns="0" tIns="0" rIns="0" bIns="0" rtlCol="0" anchor="ctr"/>
          <a:lstStyle/>
          <a:p>
            <a:pPr algn="r" indent="0" marL="0">
              <a:buNone/>
            </a:pPr>
            <a:r>
              <a:rPr lang="en-US" sz="1400" b="1" u="sng" dirty="0">
                <a:solidFill>
                  <a:schemeClr val="accent2"/>
                </a:solidFill>
                <a:hlinkClick r:id="rId3" action="ppaction://hlinksldjump" tooltip="Reveal answer">
                  <a:extLst>
                    <a:ext uri="{A12FA001-AC4F-418D-AE19-62706E023703}">
                      <ahyp:hlinkClr xmlns:ahyp="http://schemas.microsoft.com/office/drawing/2018/hyperlinkcolor" val="tx"/>
                    </a:ext>
                  </a:extLst>
                </a:hlinkClick>
              </a:rPr>
              <a:t>Reveal  ›</a:t>
            </a:r>
            <a:endParaRPr lang="en-US" sz="1400" dirty="0"/>
          </a:p>
        </p:txBody>
      </p:sp>
      <p:sp>
        <p:nvSpPr>
          <p:cNvPr id="13" name="Scenario 2"/>
          <p:cNvSpPr/>
          <p:nvPr/>
        </p:nvSpPr>
        <p:spPr>
          <a:xfrm>
            <a:off x="6172200" y="1783080"/>
            <a:ext cx="544068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4" name="Shape 11"/>
          <p:cNvSpPr/>
          <p:nvPr/>
        </p:nvSpPr>
        <p:spPr>
          <a:xfrm>
            <a:off x="6446520" y="2057400"/>
            <a:ext cx="685800" cy="685800"/>
          </a:xfrm>
          <a:prstGeom prst="ellipse">
            <a:avLst/>
          </a:prstGeom>
          <a:solidFill>
            <a:srgbClr val="C9A227"/>
          </a:solidFill>
          <a:ln w="12700">
            <a:solidFill>
              <a:srgbClr val="C9A227"/>
            </a:solidFill>
            <a:prstDash val="solid"/>
          </a:ln>
        </p:spPr>
      </p:sp>
      <p:pic>
        <p:nvPicPr>
          <p:cNvPr id="15" name="Image 1" descr="preencoded.png">    </p:cNvPr>
          <p:cNvPicPr>
            <a:picLocks noChangeAspect="1"/>
          </p:cNvPicPr>
          <p:nvPr/>
        </p:nvPicPr>
        <p:blipFill>
          <a:blip r:embed="rId4"/>
          <a:stretch>
            <a:fillRect/>
          </a:stretch>
        </p:blipFill>
        <p:spPr>
          <a:xfrm>
            <a:off x="6624828" y="2235708"/>
            <a:ext cx="329184" cy="329184"/>
          </a:xfrm>
          <a:prstGeom prst="rect">
            <a:avLst/>
          </a:prstGeom>
        </p:spPr>
      </p:pic>
      <p:sp>
        <p:nvSpPr>
          <p:cNvPr id="16" name="Text 12"/>
          <p:cNvSpPr txBox="1"/>
          <p:nvPr/>
        </p:nvSpPr>
        <p:spPr>
          <a:xfrm>
            <a:off x="7315200" y="2057400"/>
            <a:ext cx="4023360" cy="685800"/>
          </a:xfrm>
          <a:prstGeom prst="rect">
            <a:avLst/>
          </a:prstGeom>
          <a:noFill/>
          <a:ln/>
        </p:spPr>
        <p:txBody>
          <a:bodyPr wrap="square" lIns="0" tIns="0" rIns="0" bIns="0" rtlCol="0" anchor="ctr"/>
          <a:lstStyle/>
          <a:p>
            <a:pPr indent="0" marL="0">
              <a:buNone/>
            </a:pPr>
            <a:r>
              <a:rPr lang="en-US" sz="1900" b="1" u="sng" dirty="0">
                <a:solidFill>
                  <a:schemeClr val="tx1"/>
                </a:solidFill>
                <a:latin typeface="Cambria" pitchFamily="34" charset="0"/>
                <a:ea typeface="Cambria" pitchFamily="34" charset="-122"/>
                <a:cs typeface="Cambria" pitchFamily="34" charset="-120"/>
                <a:hlinkClick r:id="rId5" action="ppaction://hlinksldjump" tooltip="Reveal answer">
                  <a:extLst>
                    <a:ext uri="{A12FA001-AC4F-418D-AE19-62706E023703}">
                      <ahyp:hlinkClr xmlns:ahyp="http://schemas.microsoft.com/office/drawing/2018/hyperlinkcolor" val="tx"/>
                    </a:ext>
                  </a:extLst>
                </a:hlinkClick>
              </a:rPr>
              <a:t>2  The overseas subsidiary</a:t>
            </a:r>
            <a:endParaRPr lang="en-US" sz="1900" dirty="0"/>
          </a:p>
        </p:txBody>
      </p:sp>
      <p:sp>
        <p:nvSpPr>
          <p:cNvPr id="17" name="Text 13"/>
          <p:cNvSpPr txBox="1"/>
          <p:nvPr/>
        </p:nvSpPr>
        <p:spPr>
          <a:xfrm>
            <a:off x="6446520" y="2788920"/>
            <a:ext cx="3931920" cy="868680"/>
          </a:xfrm>
          <a:prstGeom prst="rect">
            <a:avLst/>
          </a:prstGeom>
          <a:noFill/>
          <a:ln/>
        </p:spPr>
        <p:txBody>
          <a:bodyPr wrap="square" lIns="0" tIns="0" rIns="0" bIns="0" rtlCol="0" anchor="t"/>
          <a:lstStyle/>
          <a:p>
            <a:pPr indent="0" marL="0">
              <a:buNone/>
            </a:pPr>
            <a:r>
              <a:rPr lang="en-US" sz="1500" dirty="0">
                <a:solidFill>
                  <a:schemeClr val="tx1"/>
                </a:solidFill>
              </a:rPr>
              <a:t>Workers harmed by a foreign subsidiary sue the parent company because the subsidiary has no money.</a:t>
            </a:r>
            <a:endParaRPr lang="en-US" sz="1500" dirty="0"/>
          </a:p>
        </p:txBody>
      </p:sp>
      <p:sp>
        <p:nvSpPr>
          <p:cNvPr id="18" name="Text 14"/>
          <p:cNvSpPr txBox="1"/>
          <p:nvPr/>
        </p:nvSpPr>
        <p:spPr>
          <a:xfrm>
            <a:off x="10424160" y="3246120"/>
            <a:ext cx="960120" cy="411480"/>
          </a:xfrm>
          <a:prstGeom prst="rect">
            <a:avLst/>
          </a:prstGeom>
          <a:noFill/>
          <a:ln/>
        </p:spPr>
        <p:txBody>
          <a:bodyPr wrap="square" lIns="0" tIns="0" rIns="0" bIns="0" rtlCol="0" anchor="ctr"/>
          <a:lstStyle/>
          <a:p>
            <a:pPr algn="r" indent="0" marL="0">
              <a:buNone/>
            </a:pPr>
            <a:r>
              <a:rPr lang="en-US" sz="1400" b="1" u="sng" dirty="0">
                <a:solidFill>
                  <a:schemeClr val="accent2"/>
                </a:solidFill>
                <a:hlinkClick r:id="rId6" action="ppaction://hlinksldjump" tooltip="Reveal answer">
                  <a:extLst>
                    <a:ext uri="{A12FA001-AC4F-418D-AE19-62706E023703}">
                      <ahyp:hlinkClr xmlns:ahyp="http://schemas.microsoft.com/office/drawing/2018/hyperlinkcolor" val="tx"/>
                    </a:ext>
                  </a:extLst>
                </a:hlinkClick>
              </a:rPr>
              <a:t>Reveal  ›</a:t>
            </a:r>
            <a:endParaRPr lang="en-US" sz="1400" dirty="0"/>
          </a:p>
        </p:txBody>
      </p:sp>
      <p:sp>
        <p:nvSpPr>
          <p:cNvPr id="19" name="Scenario 3"/>
          <p:cNvSpPr/>
          <p:nvPr/>
        </p:nvSpPr>
        <p:spPr>
          <a:xfrm>
            <a:off x="548640" y="4023360"/>
            <a:ext cx="544068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20" name="Shape 16"/>
          <p:cNvSpPr/>
          <p:nvPr/>
        </p:nvSpPr>
        <p:spPr>
          <a:xfrm>
            <a:off x="822960" y="4297680"/>
            <a:ext cx="685800" cy="685800"/>
          </a:xfrm>
          <a:prstGeom prst="ellipse">
            <a:avLst/>
          </a:prstGeom>
          <a:solidFill>
            <a:srgbClr val="C9A227"/>
          </a:solidFill>
          <a:ln w="12700">
            <a:solidFill>
              <a:srgbClr val="C9A227"/>
            </a:solidFill>
            <a:prstDash val="solid"/>
          </a:ln>
        </p:spPr>
      </p:sp>
      <p:pic>
        <p:nvPicPr>
          <p:cNvPr id="21" name="Image 2" descr="preencoded.png">    </p:cNvPr>
          <p:cNvPicPr>
            <a:picLocks noChangeAspect="1"/>
          </p:cNvPicPr>
          <p:nvPr/>
        </p:nvPicPr>
        <p:blipFill>
          <a:blip r:embed="rId7"/>
          <a:stretch>
            <a:fillRect/>
          </a:stretch>
        </p:blipFill>
        <p:spPr>
          <a:xfrm>
            <a:off x="1001268" y="4475988"/>
            <a:ext cx="329184" cy="329184"/>
          </a:xfrm>
          <a:prstGeom prst="rect">
            <a:avLst/>
          </a:prstGeom>
        </p:spPr>
      </p:pic>
      <p:sp>
        <p:nvSpPr>
          <p:cNvPr id="22" name="Text 17"/>
          <p:cNvSpPr txBox="1"/>
          <p:nvPr/>
        </p:nvSpPr>
        <p:spPr>
          <a:xfrm>
            <a:off x="1691640" y="4297680"/>
            <a:ext cx="4023360" cy="685800"/>
          </a:xfrm>
          <a:prstGeom prst="rect">
            <a:avLst/>
          </a:prstGeom>
          <a:noFill/>
          <a:ln/>
        </p:spPr>
        <p:txBody>
          <a:bodyPr wrap="square" lIns="0" tIns="0" rIns="0" bIns="0" rtlCol="0" anchor="ctr"/>
          <a:lstStyle/>
          <a:p>
            <a:pPr indent="0" marL="0">
              <a:buNone/>
            </a:pPr>
            <a:r>
              <a:rPr lang="en-US" sz="1900" b="1" u="sng" dirty="0">
                <a:solidFill>
                  <a:schemeClr val="tx1"/>
                </a:solidFill>
                <a:latin typeface="Cambria" pitchFamily="34" charset="0"/>
                <a:ea typeface="Cambria" pitchFamily="34" charset="-122"/>
                <a:cs typeface="Cambria" pitchFamily="34" charset="-120"/>
                <a:hlinkClick r:id="rId8" action="ppaction://hlinksldjump" tooltip="Reveal answer">
                  <a:extLst>
                    <a:ext uri="{A12FA001-AC4F-418D-AE19-62706E023703}">
                      <ahyp:hlinkClr xmlns:ahyp="http://schemas.microsoft.com/office/drawing/2018/hyperlinkcolor" val="tx"/>
                    </a:ext>
                  </a:extLst>
                </a:hlinkClick>
              </a:rPr>
              <a:t>3  Signed too early</a:t>
            </a:r>
            <a:endParaRPr lang="en-US" sz="1900" dirty="0"/>
          </a:p>
        </p:txBody>
      </p:sp>
      <p:sp>
        <p:nvSpPr>
          <p:cNvPr id="23" name="Text 18"/>
          <p:cNvSpPr txBox="1"/>
          <p:nvPr/>
        </p:nvSpPr>
        <p:spPr>
          <a:xfrm>
            <a:off x="822960" y="5029200"/>
            <a:ext cx="3931920" cy="868680"/>
          </a:xfrm>
          <a:prstGeom prst="rect">
            <a:avLst/>
          </a:prstGeom>
          <a:noFill/>
          <a:ln/>
        </p:spPr>
        <p:txBody>
          <a:bodyPr wrap="square" lIns="0" tIns="0" rIns="0" bIns="0" rtlCol="0" anchor="t"/>
          <a:lstStyle/>
          <a:p>
            <a:pPr indent="0" marL="0">
              <a:buNone/>
            </a:pPr>
            <a:r>
              <a:rPr lang="en-US" sz="1500" dirty="0">
                <a:solidFill>
                  <a:schemeClr val="tx1"/>
                </a:solidFill>
              </a:rPr>
              <a:t>Founders sign a supply contract in the company's name before it is registered. The company is never registered.</a:t>
            </a:r>
            <a:endParaRPr lang="en-US" sz="1500" dirty="0"/>
          </a:p>
        </p:txBody>
      </p:sp>
      <p:sp>
        <p:nvSpPr>
          <p:cNvPr id="24" name="Text 19"/>
          <p:cNvSpPr txBox="1"/>
          <p:nvPr/>
        </p:nvSpPr>
        <p:spPr>
          <a:xfrm>
            <a:off x="4800600" y="5486400"/>
            <a:ext cx="960120" cy="411480"/>
          </a:xfrm>
          <a:prstGeom prst="rect">
            <a:avLst/>
          </a:prstGeom>
          <a:noFill/>
          <a:ln/>
        </p:spPr>
        <p:txBody>
          <a:bodyPr wrap="square" lIns="0" tIns="0" rIns="0" bIns="0" rtlCol="0" anchor="ctr"/>
          <a:lstStyle/>
          <a:p>
            <a:pPr algn="r" indent="0" marL="0">
              <a:buNone/>
            </a:pPr>
            <a:r>
              <a:rPr lang="en-US" sz="1400" b="1" u="sng" dirty="0">
                <a:solidFill>
                  <a:schemeClr val="accent2"/>
                </a:solidFill>
                <a:hlinkClick r:id="rId9" action="ppaction://hlinksldjump" tooltip="Reveal answer">
                  <a:extLst>
                    <a:ext uri="{A12FA001-AC4F-418D-AE19-62706E023703}">
                      <ahyp:hlinkClr xmlns:ahyp="http://schemas.microsoft.com/office/drawing/2018/hyperlinkcolor" val="tx"/>
                    </a:ext>
                  </a:extLst>
                </a:hlinkClick>
              </a:rPr>
              <a:t>Reveal  ›</a:t>
            </a:r>
            <a:endParaRPr lang="en-US" sz="1400" dirty="0"/>
          </a:p>
        </p:txBody>
      </p:sp>
      <p:sp>
        <p:nvSpPr>
          <p:cNvPr id="25" name="Scenario 4"/>
          <p:cNvSpPr/>
          <p:nvPr/>
        </p:nvSpPr>
        <p:spPr>
          <a:xfrm>
            <a:off x="6172200" y="4023360"/>
            <a:ext cx="5440680" cy="201168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26" name="Shape 21"/>
          <p:cNvSpPr/>
          <p:nvPr/>
        </p:nvSpPr>
        <p:spPr>
          <a:xfrm>
            <a:off x="6446520" y="4297680"/>
            <a:ext cx="685800" cy="685800"/>
          </a:xfrm>
          <a:prstGeom prst="ellipse">
            <a:avLst/>
          </a:prstGeom>
          <a:solidFill>
            <a:srgbClr val="C9A227"/>
          </a:solidFill>
          <a:ln w="12700">
            <a:solidFill>
              <a:srgbClr val="C9A227"/>
            </a:solidFill>
            <a:prstDash val="solid"/>
          </a:ln>
        </p:spPr>
      </p:sp>
      <p:pic>
        <p:nvPicPr>
          <p:cNvPr id="27" name="Image 3" descr="preencoded.png">    </p:cNvPr>
          <p:cNvPicPr>
            <a:picLocks noChangeAspect="1"/>
          </p:cNvPicPr>
          <p:nvPr/>
        </p:nvPicPr>
        <p:blipFill>
          <a:blip r:embed="rId10"/>
          <a:stretch>
            <a:fillRect/>
          </a:stretch>
        </p:blipFill>
        <p:spPr>
          <a:xfrm>
            <a:off x="6624828" y="4475988"/>
            <a:ext cx="329184" cy="329184"/>
          </a:xfrm>
          <a:prstGeom prst="rect">
            <a:avLst/>
          </a:prstGeom>
        </p:spPr>
      </p:pic>
      <p:sp>
        <p:nvSpPr>
          <p:cNvPr id="28" name="Text 22"/>
          <p:cNvSpPr txBox="1"/>
          <p:nvPr/>
        </p:nvSpPr>
        <p:spPr>
          <a:xfrm>
            <a:off x="7315200" y="4297680"/>
            <a:ext cx="4023360" cy="685800"/>
          </a:xfrm>
          <a:prstGeom prst="rect">
            <a:avLst/>
          </a:prstGeom>
          <a:noFill/>
          <a:ln/>
        </p:spPr>
        <p:txBody>
          <a:bodyPr wrap="square" lIns="0" tIns="0" rIns="0" bIns="0" rtlCol="0" anchor="ctr"/>
          <a:lstStyle/>
          <a:p>
            <a:pPr indent="0" marL="0">
              <a:buNone/>
            </a:pPr>
            <a:r>
              <a:rPr lang="en-US" sz="1900" b="1" u="sng" dirty="0">
                <a:solidFill>
                  <a:schemeClr val="tx1"/>
                </a:solidFill>
                <a:latin typeface="Cambria" pitchFamily="34" charset="0"/>
                <a:ea typeface="Cambria" pitchFamily="34" charset="-122"/>
                <a:cs typeface="Cambria" pitchFamily="34" charset="-120"/>
                <a:hlinkClick r:id="rId11" action="ppaction://hlinksldjump" tooltip="Reveal answer">
                  <a:extLst>
                    <a:ext uri="{A12FA001-AC4F-418D-AE19-62706E023703}">
                      <ahyp:hlinkClr xmlns:ahyp="http://schemas.microsoft.com/office/drawing/2018/hyperlinkcolor" val="tx"/>
                    </a:ext>
                  </a:extLst>
                </a:hlinkClick>
              </a:rPr>
              <a:t>4  Trading into the wall</a:t>
            </a:r>
            <a:endParaRPr lang="en-US" sz="1900" dirty="0"/>
          </a:p>
        </p:txBody>
      </p:sp>
      <p:sp>
        <p:nvSpPr>
          <p:cNvPr id="29" name="Text 23"/>
          <p:cNvSpPr txBox="1"/>
          <p:nvPr/>
        </p:nvSpPr>
        <p:spPr>
          <a:xfrm>
            <a:off x="6446520" y="5029200"/>
            <a:ext cx="3931920" cy="868680"/>
          </a:xfrm>
          <a:prstGeom prst="rect">
            <a:avLst/>
          </a:prstGeom>
          <a:noFill/>
          <a:ln/>
        </p:spPr>
        <p:txBody>
          <a:bodyPr wrap="square" lIns="0" tIns="0" rIns="0" bIns="0" rtlCol="0" anchor="t"/>
          <a:lstStyle/>
          <a:p>
            <a:pPr indent="0" marL="0">
              <a:buNone/>
            </a:pPr>
            <a:r>
              <a:rPr lang="en-US" sz="1500" dirty="0">
                <a:solidFill>
                  <a:schemeClr val="tx1"/>
                </a:solidFill>
              </a:rPr>
              <a:t>The board keeps trading for six months after it should have seen that insolvent liquidation was unavoidable.</a:t>
            </a:r>
            <a:endParaRPr lang="en-US" sz="1500" dirty="0"/>
          </a:p>
        </p:txBody>
      </p:sp>
      <p:sp>
        <p:nvSpPr>
          <p:cNvPr id="30" name="Text 24"/>
          <p:cNvSpPr txBox="1"/>
          <p:nvPr/>
        </p:nvSpPr>
        <p:spPr>
          <a:xfrm>
            <a:off x="10424160" y="5486400"/>
            <a:ext cx="960120" cy="411480"/>
          </a:xfrm>
          <a:prstGeom prst="rect">
            <a:avLst/>
          </a:prstGeom>
          <a:noFill/>
          <a:ln/>
        </p:spPr>
        <p:txBody>
          <a:bodyPr wrap="square" lIns="0" tIns="0" rIns="0" bIns="0" rtlCol="0" anchor="ctr"/>
          <a:lstStyle/>
          <a:p>
            <a:pPr algn="r" indent="0" marL="0">
              <a:buNone/>
            </a:pPr>
            <a:r>
              <a:rPr lang="en-US" sz="1400" b="1" u="sng" dirty="0">
                <a:solidFill>
                  <a:schemeClr val="accent2"/>
                </a:solidFill>
                <a:hlinkClick r:id="rId12" action="ppaction://hlinksldjump" tooltip="Reveal answer">
                  <a:extLst>
                    <a:ext uri="{A12FA001-AC4F-418D-AE19-62706E023703}">
                      <ahyp:hlinkClr xmlns:ahyp="http://schemas.microsoft.com/office/drawing/2018/hyperlinkcolor" val="tx"/>
                    </a:ext>
                  </a:extLst>
                </a:hlinkClick>
              </a:rPr>
              <a:t>Reveal  ›</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Critical evaluation</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371600"/>
            <a:ext cx="5440680" cy="352044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868680" y="1554480"/>
            <a:ext cx="4754880" cy="457200"/>
          </a:xfrm>
          <a:prstGeom prst="rect">
            <a:avLst/>
          </a:prstGeom>
          <a:noFill/>
          <a:ln/>
        </p:spPr>
        <p:txBody>
          <a:bodyPr wrap="square" lIns="0" tIns="0" rIns="0" bIns="0" rtlCol="0" anchor="ctr"/>
          <a:lstStyle/>
          <a:p>
            <a:pPr indent="0" marL="0">
              <a:buNone/>
            </a:pPr>
            <a:r>
              <a:rPr lang="en-US" sz="2100" b="1" dirty="0">
                <a:solidFill>
                  <a:schemeClr val="accent2"/>
                </a:solidFill>
                <a:latin typeface="Cambria" pitchFamily="34" charset="0"/>
                <a:ea typeface="Cambria" pitchFamily="34" charset="-122"/>
                <a:cs typeface="Cambria" pitchFamily="34" charset="-120"/>
              </a:rPr>
              <a:t>United Kingdom</a:t>
            </a:r>
            <a:endParaRPr lang="en-US" sz="2100" dirty="0"/>
          </a:p>
        </p:txBody>
      </p:sp>
      <p:sp>
        <p:nvSpPr>
          <p:cNvPr id="8" name="Text 6"/>
          <p:cNvSpPr txBox="1"/>
          <p:nvPr/>
        </p:nvSpPr>
        <p:spPr>
          <a:xfrm>
            <a:off x="868680" y="2194560"/>
            <a:ext cx="4846320" cy="2606040"/>
          </a:xfrm>
          <a:prstGeom prst="rect">
            <a:avLst/>
          </a:prstGeom>
          <a:noFill/>
          <a:ln/>
        </p:spPr>
        <p:txBody>
          <a:bodyPr wrap="square" lIns="0" tIns="0" rIns="0" bIns="0" rtlCol="0" anchor="t"/>
          <a:lstStyle/>
          <a:p>
            <a:pPr indent="0" marL="0">
              <a:spcAft>
                <a:spcPts val="1000"/>
              </a:spcAft>
              <a:buNone/>
            </a:pPr>
            <a:r>
              <a:rPr lang="en-US" sz="1800" dirty="0">
                <a:solidFill>
                  <a:srgbClr val="0F6B53"/>
                </a:solidFill>
              </a:rPr>
              <a:t>+  Clear, predictable test after Prest</a:t>
            </a:r>
            <a:endParaRPr lang="en-US" sz="1800" dirty="0"/>
          </a:p>
          <a:p>
            <a:pPr indent="0" marL="0">
              <a:spcAft>
                <a:spcPts val="1000"/>
              </a:spcAft>
              <a:buNone/>
            </a:pPr>
            <a:r>
              <a:rPr lang="en-US" sz="1800" dirty="0">
                <a:solidFill>
                  <a:srgbClr val="0F6B53"/>
                </a:solidFill>
              </a:rPr>
              <a:t>+  Investors can price their risk in advance</a:t>
            </a:r>
            <a:endParaRPr lang="en-US" sz="1800" dirty="0"/>
          </a:p>
          <a:p>
            <a:pPr indent="0" marL="0">
              <a:spcAft>
                <a:spcPts val="1000"/>
              </a:spcAft>
              <a:buNone/>
            </a:pPr>
            <a:r>
              <a:rPr lang="en-US" sz="1800" dirty="0">
                <a:solidFill>
                  <a:srgbClr val="B23A48"/>
                </a:solidFill>
              </a:rPr>
              <a:t>–  Evasion is hard to prove</a:t>
            </a:r>
            <a:endParaRPr lang="en-US" sz="1800" dirty="0"/>
          </a:p>
          <a:p>
            <a:pPr indent="0" marL="0">
              <a:spcAft>
                <a:spcPts val="1000"/>
              </a:spcAft>
              <a:buNone/>
            </a:pPr>
            <a:r>
              <a:rPr lang="en-US" sz="1800" dirty="0">
                <a:solidFill>
                  <a:srgbClr val="B23A48"/>
                </a:solidFill>
              </a:rPr>
              <a:t>–  Tort victims and later creditors are left exposed</a:t>
            </a:r>
            <a:endParaRPr lang="en-US" sz="1800" dirty="0"/>
          </a:p>
          <a:p>
            <a:pPr indent="0" marL="0">
              <a:spcAft>
                <a:spcPts val="1000"/>
              </a:spcAft>
              <a:buNone/>
            </a:pPr>
            <a:r>
              <a:rPr lang="en-US" sz="1800" dirty="0">
                <a:solidFill>
                  <a:srgbClr val="B23A48"/>
                </a:solidFill>
              </a:rPr>
              <a:t>–  Directors face outsiders mainly in insolvency</a:t>
            </a:r>
            <a:endParaRPr lang="en-US" sz="1800" dirty="0"/>
          </a:p>
        </p:txBody>
      </p:sp>
      <p:sp>
        <p:nvSpPr>
          <p:cNvPr id="9" name="Shape 7"/>
          <p:cNvSpPr/>
          <p:nvPr/>
        </p:nvSpPr>
        <p:spPr>
          <a:xfrm>
            <a:off x="6172200" y="1371600"/>
            <a:ext cx="5440680" cy="352044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0" name="Text 8"/>
          <p:cNvSpPr txBox="1"/>
          <p:nvPr/>
        </p:nvSpPr>
        <p:spPr>
          <a:xfrm>
            <a:off x="6492240" y="1554480"/>
            <a:ext cx="4754880" cy="457200"/>
          </a:xfrm>
          <a:prstGeom prst="rect">
            <a:avLst/>
          </a:prstGeom>
          <a:noFill/>
          <a:ln/>
        </p:spPr>
        <p:txBody>
          <a:bodyPr wrap="square" lIns="0" tIns="0" rIns="0" bIns="0" rtlCol="0" anchor="ctr"/>
          <a:lstStyle/>
          <a:p>
            <a:pPr indent="0" marL="0">
              <a:buNone/>
            </a:pPr>
            <a:r>
              <a:rPr lang="en-US" sz="2100" b="1" dirty="0">
                <a:solidFill>
                  <a:schemeClr val="accent1"/>
                </a:solidFill>
                <a:latin typeface="Cambria" pitchFamily="34" charset="0"/>
                <a:ea typeface="Cambria" pitchFamily="34" charset="-122"/>
                <a:cs typeface="Cambria" pitchFamily="34" charset="-120"/>
              </a:rPr>
              <a:t>Saudi Arabia</a:t>
            </a:r>
            <a:endParaRPr lang="en-US" sz="2100" dirty="0"/>
          </a:p>
        </p:txBody>
      </p:sp>
      <p:sp>
        <p:nvSpPr>
          <p:cNvPr id="11" name="Text 9"/>
          <p:cNvSpPr txBox="1"/>
          <p:nvPr/>
        </p:nvSpPr>
        <p:spPr>
          <a:xfrm>
            <a:off x="6492240" y="2194560"/>
            <a:ext cx="4846320" cy="2606040"/>
          </a:xfrm>
          <a:prstGeom prst="rect">
            <a:avLst/>
          </a:prstGeom>
          <a:noFill/>
          <a:ln/>
        </p:spPr>
        <p:txBody>
          <a:bodyPr wrap="square" lIns="0" tIns="0" rIns="0" bIns="0" rtlCol="0" anchor="t"/>
          <a:lstStyle/>
          <a:p>
            <a:pPr indent="0" marL="0">
              <a:spcAft>
                <a:spcPts val="1000"/>
              </a:spcAft>
              <a:buNone/>
            </a:pPr>
            <a:r>
              <a:rPr lang="en-US" sz="1800" dirty="0">
                <a:solidFill>
                  <a:srgbClr val="0F6B53"/>
                </a:solidFill>
              </a:rPr>
              <a:t>+  Objective triggers; no need to prove bad intent</a:t>
            </a:r>
            <a:endParaRPr lang="en-US" sz="1800" dirty="0"/>
          </a:p>
          <a:p>
            <a:pPr indent="0" marL="0">
              <a:spcAft>
                <a:spcPts val="1000"/>
              </a:spcAft>
              <a:buNone/>
            </a:pPr>
            <a:r>
              <a:rPr lang="en-US" sz="1800" dirty="0">
                <a:solidFill>
                  <a:srgbClr val="0F6B53"/>
                </a:solidFill>
              </a:rPr>
              <a:t>+  Art 28 gives outsiders a direct claim</a:t>
            </a:r>
            <a:endParaRPr lang="en-US" sz="1800" dirty="0"/>
          </a:p>
          <a:p>
            <a:pPr indent="0" marL="0">
              <a:spcAft>
                <a:spcPts val="1000"/>
              </a:spcAft>
              <a:buNone/>
            </a:pPr>
            <a:r>
              <a:rPr lang="en-US" sz="1800" dirty="0">
                <a:solidFill>
                  <a:srgbClr val="B23A48"/>
                </a:solidFill>
              </a:rPr>
              <a:t>–  No general anti-abuse rule beyond listed provisions</a:t>
            </a:r>
            <a:endParaRPr lang="en-US" sz="1800" dirty="0"/>
          </a:p>
          <a:p>
            <a:pPr indent="0" marL="0">
              <a:spcAft>
                <a:spcPts val="1000"/>
              </a:spcAft>
              <a:buNone/>
            </a:pPr>
            <a:r>
              <a:rPr lang="en-US" sz="1800" dirty="0">
                <a:solidFill>
                  <a:srgbClr val="B23A48"/>
                </a:solidFill>
              </a:rPr>
              <a:t>–  Sharia discretion is hard to predict</a:t>
            </a:r>
            <a:endParaRPr lang="en-US" sz="1800" dirty="0"/>
          </a:p>
          <a:p>
            <a:pPr indent="0" marL="0">
              <a:spcAft>
                <a:spcPts val="1000"/>
              </a:spcAft>
              <a:buNone/>
            </a:pPr>
            <a:r>
              <a:rPr lang="en-US" sz="1800" dirty="0">
                <a:solidFill>
                  <a:srgbClr val="B23A48"/>
                </a:solidFill>
              </a:rPr>
              <a:t>–  Few published commercial judgments</a:t>
            </a:r>
            <a:endParaRPr lang="en-US" sz="1800" dirty="0"/>
          </a:p>
        </p:txBody>
      </p:sp>
      <p:sp>
        <p:nvSpPr>
          <p:cNvPr id="12" name="Shape 10"/>
          <p:cNvSpPr/>
          <p:nvPr/>
        </p:nvSpPr>
        <p:spPr>
          <a:xfrm>
            <a:off x="548640" y="5120640"/>
            <a:ext cx="11064240" cy="1005840"/>
          </a:xfrm>
          <a:prstGeom prst="roundRect">
            <a:avLst>
              <a:gd name="adj" fmla="val 9091"/>
            </a:avLst>
          </a:prstGeom>
          <a:solidFill>
            <a:schemeClr val="tx1"/>
          </a:solidFill>
          <a:ln w="12700">
            <a:solidFill>
              <a:schemeClr val="tx1"/>
            </a:solidFill>
            <a:prstDash val="solid"/>
          </a:ln>
        </p:spPr>
      </p:sp>
      <p:sp>
        <p:nvSpPr>
          <p:cNvPr id="13" name="Text 11"/>
          <p:cNvSpPr txBox="1"/>
          <p:nvPr/>
        </p:nvSpPr>
        <p:spPr>
          <a:xfrm>
            <a:off x="822960" y="5120640"/>
            <a:ext cx="10607040" cy="1005840"/>
          </a:xfrm>
          <a:prstGeom prst="rect">
            <a:avLst/>
          </a:prstGeom>
          <a:noFill/>
          <a:ln/>
        </p:spPr>
        <p:txBody>
          <a:bodyPr wrap="square" lIns="0" tIns="0" rIns="0" bIns="0" rtlCol="0" anchor="ctr"/>
          <a:lstStyle/>
          <a:p>
            <a:pPr indent="0" marL="0">
              <a:buNone/>
            </a:pPr>
            <a:r>
              <a:rPr lang="en-US" sz="1400" b="1" dirty="0">
                <a:solidFill>
                  <a:schemeClr val="accent3"/>
                </a:solidFill>
              </a:rPr>
              <a:t>Our view:  </a:t>
            </a:r>
            <a:pPr indent="0" marL="0">
              <a:buNone/>
            </a:pPr>
            <a:r>
              <a:rPr lang="en-US" sz="1400" dirty="0">
                <a:solidFill>
                  <a:schemeClr val="bg1"/>
                </a:solidFill>
              </a:rPr>
              <a:t>the UK buys certainty with a narrow remedy. Saudi Arabia gives outsiders more routes against directors, but its broader judicial discretion is less transparent. Publishing commercial judgments would let both investors and creditors see where the Saudi line sits.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Conclusion</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46304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868680" y="1645920"/>
            <a:ext cx="91440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a:t>
            </a:r>
            <a:endParaRPr lang="en-US" sz="5400" dirty="0"/>
          </a:p>
        </p:txBody>
      </p:sp>
      <p:sp>
        <p:nvSpPr>
          <p:cNvPr id="8" name="Text 6"/>
          <p:cNvSpPr txBox="1"/>
          <p:nvPr/>
        </p:nvSpPr>
        <p:spPr>
          <a:xfrm>
            <a:off x="868680" y="2606040"/>
            <a:ext cx="283464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Same foundation</a:t>
            </a:r>
            <a:endParaRPr lang="en-US" sz="2000" dirty="0"/>
          </a:p>
        </p:txBody>
      </p:sp>
      <p:sp>
        <p:nvSpPr>
          <p:cNvPr id="9" name="Text 7"/>
          <p:cNvSpPr txBox="1"/>
          <p:nvPr/>
        </p:nvSpPr>
        <p:spPr>
          <a:xfrm>
            <a:off x="868680" y="3108960"/>
            <a:ext cx="2880360" cy="1554480"/>
          </a:xfrm>
          <a:prstGeom prst="rect">
            <a:avLst/>
          </a:prstGeom>
          <a:noFill/>
          <a:ln/>
        </p:spPr>
        <p:txBody>
          <a:bodyPr wrap="square" lIns="0" tIns="0" rIns="0" bIns="0" rtlCol="0" anchor="t"/>
          <a:lstStyle/>
          <a:p>
            <a:pPr indent="0" marL="0">
              <a:buNone/>
            </a:pPr>
            <a:r>
              <a:rPr lang="en-US" sz="1500" dirty="0">
                <a:solidFill>
                  <a:schemeClr val="tx1"/>
                </a:solidFill>
              </a:rPr>
              <a:t>Both treat the company as a separate person, with limited liability as the norm.</a:t>
            </a:r>
            <a:endParaRPr lang="en-US" sz="1500" dirty="0"/>
          </a:p>
        </p:txBody>
      </p:sp>
      <p:sp>
        <p:nvSpPr>
          <p:cNvPr id="10" name="Shape 8"/>
          <p:cNvSpPr/>
          <p:nvPr/>
        </p:nvSpPr>
        <p:spPr>
          <a:xfrm>
            <a:off x="4297680" y="146304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Text 9"/>
          <p:cNvSpPr txBox="1"/>
          <p:nvPr/>
        </p:nvSpPr>
        <p:spPr>
          <a:xfrm>
            <a:off x="4617720" y="1645920"/>
            <a:ext cx="91440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2</a:t>
            </a:r>
            <a:endParaRPr lang="en-US" sz="5400" dirty="0"/>
          </a:p>
        </p:txBody>
      </p:sp>
      <p:sp>
        <p:nvSpPr>
          <p:cNvPr id="12" name="Text 10"/>
          <p:cNvSpPr txBox="1"/>
          <p:nvPr/>
        </p:nvSpPr>
        <p:spPr>
          <a:xfrm>
            <a:off x="4617720" y="2606040"/>
            <a:ext cx="283464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Different exceptions</a:t>
            </a:r>
            <a:endParaRPr lang="en-US" sz="2000" dirty="0"/>
          </a:p>
        </p:txBody>
      </p:sp>
      <p:sp>
        <p:nvSpPr>
          <p:cNvPr id="13" name="Text 11"/>
          <p:cNvSpPr txBox="1"/>
          <p:nvPr/>
        </p:nvSpPr>
        <p:spPr>
          <a:xfrm>
            <a:off x="4617720" y="3108960"/>
            <a:ext cx="2880360" cy="1554480"/>
          </a:xfrm>
          <a:prstGeom prst="rect">
            <a:avLst/>
          </a:prstGeom>
          <a:noFill/>
          <a:ln/>
        </p:spPr>
        <p:txBody>
          <a:bodyPr wrap="square" lIns="0" tIns="0" rIns="0" bIns="0" rtlCol="0" anchor="t"/>
          <a:lstStyle/>
          <a:p>
            <a:pPr indent="0" marL="0">
              <a:buNone/>
            </a:pPr>
            <a:r>
              <a:rPr lang="en-US" sz="1500" dirty="0">
                <a:solidFill>
                  <a:schemeClr val="tx1"/>
                </a:solidFill>
              </a:rPr>
              <a:t>The UK pierces only for deliberate evasion. Saudi law lists objective triggers in statute.</a:t>
            </a:r>
            <a:endParaRPr lang="en-US" sz="1500" dirty="0"/>
          </a:p>
        </p:txBody>
      </p:sp>
      <p:sp>
        <p:nvSpPr>
          <p:cNvPr id="14" name="Shape 12"/>
          <p:cNvSpPr/>
          <p:nvPr/>
        </p:nvSpPr>
        <p:spPr>
          <a:xfrm>
            <a:off x="8046720" y="146304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5" name="Text 13"/>
          <p:cNvSpPr txBox="1"/>
          <p:nvPr/>
        </p:nvSpPr>
        <p:spPr>
          <a:xfrm>
            <a:off x="8366760" y="1645920"/>
            <a:ext cx="91440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3</a:t>
            </a:r>
            <a:endParaRPr lang="en-US" sz="5400" dirty="0"/>
          </a:p>
        </p:txBody>
      </p:sp>
      <p:sp>
        <p:nvSpPr>
          <p:cNvPr id="16" name="Text 14"/>
          <p:cNvSpPr txBox="1"/>
          <p:nvPr/>
        </p:nvSpPr>
        <p:spPr>
          <a:xfrm>
            <a:off x="8366760" y="2606040"/>
            <a:ext cx="283464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Different targets</a:t>
            </a:r>
            <a:endParaRPr lang="en-US" sz="2000" dirty="0"/>
          </a:p>
        </p:txBody>
      </p:sp>
      <p:sp>
        <p:nvSpPr>
          <p:cNvPr id="17" name="Text 15"/>
          <p:cNvSpPr txBox="1"/>
          <p:nvPr/>
        </p:nvSpPr>
        <p:spPr>
          <a:xfrm>
            <a:off x="8366760" y="3108960"/>
            <a:ext cx="2880360" cy="1554480"/>
          </a:xfrm>
          <a:prstGeom prst="rect">
            <a:avLst/>
          </a:prstGeom>
          <a:noFill/>
          <a:ln/>
        </p:spPr>
        <p:txBody>
          <a:bodyPr wrap="square" lIns="0" tIns="0" rIns="0" bIns="0" rtlCol="0" anchor="t"/>
          <a:lstStyle/>
          <a:p>
            <a:pPr indent="0" marL="0">
              <a:buNone/>
            </a:pPr>
            <a:r>
              <a:rPr lang="en-US" sz="1500" dirty="0">
                <a:solidFill>
                  <a:schemeClr val="tx1"/>
                </a:solidFill>
              </a:rPr>
              <a:t>Most real liability falls on directors through statute: IA 1986 in the UK, Art 28 in Saudi Arabia.</a:t>
            </a:r>
            <a:endParaRPr lang="en-US" sz="1500" dirty="0"/>
          </a:p>
        </p:txBody>
      </p:sp>
      <p:sp>
        <p:nvSpPr>
          <p:cNvPr id="18" name="Text 16"/>
          <p:cNvSpPr txBox="1"/>
          <p:nvPr/>
        </p:nvSpPr>
        <p:spPr>
          <a:xfrm>
            <a:off x="548640" y="5120640"/>
            <a:ext cx="11064240" cy="822960"/>
          </a:xfrm>
          <a:prstGeom prst="rect">
            <a:avLst/>
          </a:prstGeom>
          <a:noFill/>
          <a:ln/>
        </p:spPr>
        <p:txBody>
          <a:bodyPr wrap="square" lIns="0" tIns="0" rIns="0" bIns="0" rtlCol="0" anchor="ctr"/>
          <a:lstStyle/>
          <a:p>
            <a:pPr algn="ctr" indent="0" marL="0">
              <a:buNone/>
            </a:pPr>
            <a:r>
              <a:rPr lang="en-US" sz="2200" i="1" dirty="0">
                <a:solidFill>
                  <a:schemeClr val="accent1"/>
                </a:solidFill>
                <a:latin typeface="Cambria" pitchFamily="34" charset="0"/>
                <a:ea typeface="Cambria" pitchFamily="34" charset="-122"/>
                <a:cs typeface="Cambria" pitchFamily="34" charset="-120"/>
              </a:rPr>
              <a:t>The question is never whether the veil exists. It is who carries the cost when it is misused.</a:t>
            </a:r>
            <a:endParaRPr lang="en-US" sz="2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3" name="Text 1"/>
          <p:cNvSpPr txBox="1"/>
          <p:nvPr/>
        </p:nvSpPr>
        <p:spPr>
          <a:xfrm>
            <a:off x="548640" y="1371600"/>
            <a:ext cx="5394960" cy="4754880"/>
          </a:xfrm>
          <a:prstGeom prst="rect">
            <a:avLst/>
          </a:prstGeom>
          <a:noFill/>
          <a:ln/>
        </p:spPr>
        <p:txBody>
          <a:bodyPr wrap="square" lIns="0" tIns="0" rIns="0" bIns="0" rtlCol="0" anchor="t"/>
          <a:lstStyle/>
          <a:p>
            <a:pPr indent="0" marL="0">
              <a:spcAft>
                <a:spcPts val="500"/>
              </a:spcAft>
              <a:buNone/>
            </a:pPr>
            <a:r>
              <a:rPr lang="en-US" sz="1300" b="1" dirty="0">
                <a:solidFill>
                  <a:srgbClr val="0F5C4D"/>
                </a:solidFill>
              </a:rPr>
              <a:t>Cases</a:t>
            </a:r>
            <a:endParaRPr lang="en-US" sz="1300" dirty="0"/>
          </a:p>
          <a:p>
            <a:pPr indent="0" marL="0">
              <a:spcAft>
                <a:spcPts val="500"/>
              </a:spcAft>
              <a:buNone/>
            </a:pPr>
            <a:r>
              <a:rPr lang="en-US" sz="1300" dirty="0">
                <a:solidFill>
                  <a:schemeClr val="tx1"/>
                </a:solidFill>
              </a:rPr>
              <a:t>Adams v Cape Industries plc [1990] Ch 433 (CA)</a:t>
            </a:r>
            <a:endParaRPr lang="en-US" sz="1300" dirty="0"/>
          </a:p>
          <a:p>
            <a:pPr indent="0" marL="0">
              <a:spcAft>
                <a:spcPts val="500"/>
              </a:spcAft>
              <a:buNone/>
            </a:pPr>
            <a:r>
              <a:rPr lang="en-US" sz="1300" dirty="0">
                <a:solidFill>
                  <a:schemeClr val="tx1"/>
                </a:solidFill>
              </a:rPr>
              <a:t>Gilford Motor Co Ltd v Horne [1933] Ch 935 (CA)</a:t>
            </a:r>
            <a:endParaRPr lang="en-US" sz="1300" dirty="0"/>
          </a:p>
          <a:p>
            <a:pPr indent="0" marL="0">
              <a:spcAft>
                <a:spcPts val="500"/>
              </a:spcAft>
              <a:buNone/>
            </a:pPr>
            <a:r>
              <a:rPr lang="en-US" sz="1300" dirty="0">
                <a:solidFill>
                  <a:schemeClr val="tx1"/>
                </a:solidFill>
              </a:rPr>
              <a:t>Jones v Lipman [1962] 1 WLR 832 (Ch)</a:t>
            </a:r>
            <a:endParaRPr lang="en-US" sz="1300" dirty="0"/>
          </a:p>
          <a:p>
            <a:pPr indent="0" marL="0">
              <a:spcAft>
                <a:spcPts val="500"/>
              </a:spcAft>
              <a:buNone/>
            </a:pPr>
            <a:r>
              <a:rPr lang="en-US" sz="1300" dirty="0">
                <a:solidFill>
                  <a:schemeClr val="tx1"/>
                </a:solidFill>
              </a:rPr>
              <a:t>Prest v Petrodel Resources Ltd [2013] UKSC 34, [2013] 2 AC 415</a:t>
            </a:r>
            <a:endParaRPr lang="en-US" sz="1300" dirty="0"/>
          </a:p>
          <a:p>
            <a:pPr indent="0" marL="0">
              <a:spcAft>
                <a:spcPts val="500"/>
              </a:spcAft>
              <a:buNone/>
            </a:pPr>
            <a:r>
              <a:rPr lang="en-US" sz="1300" dirty="0">
                <a:solidFill>
                  <a:schemeClr val="tx1"/>
                </a:solidFill>
              </a:rPr>
              <a:t>Salomon v A Salomon &amp; Co Ltd [1897] AC 22 (HL)</a:t>
            </a:r>
            <a:endParaRPr lang="en-US" sz="1300" dirty="0"/>
          </a:p>
          <a:p>
            <a:pPr indent="0" marL="0">
              <a:spcAft>
                <a:spcPts val="500"/>
              </a:spcAft>
              <a:buNone/>
            </a:pPr>
            <a:r>
              <a:rPr lang="en-US" sz="1300" dirty="0">
                <a:solidFill>
                  <a:schemeClr val="tx1"/>
                </a:solidFill>
              </a:rPr>
              <a:t> </a:t>
            </a:r>
            <a:endParaRPr lang="en-US" sz="1300" dirty="0"/>
          </a:p>
          <a:p>
            <a:pPr indent="0" marL="0">
              <a:spcAft>
                <a:spcPts val="500"/>
              </a:spcAft>
              <a:buNone/>
            </a:pPr>
            <a:r>
              <a:rPr lang="en-US" sz="1300" b="1" dirty="0">
                <a:solidFill>
                  <a:srgbClr val="0F5C4D"/>
                </a:solidFill>
              </a:rPr>
              <a:t>Legislation</a:t>
            </a:r>
            <a:endParaRPr lang="en-US" sz="1300" dirty="0"/>
          </a:p>
          <a:p>
            <a:pPr indent="0" marL="0">
              <a:spcAft>
                <a:spcPts val="500"/>
              </a:spcAft>
              <a:buNone/>
            </a:pPr>
            <a:r>
              <a:rPr lang="en-US" sz="1300" dirty="0">
                <a:solidFill>
                  <a:schemeClr val="tx1"/>
                </a:solidFill>
              </a:rPr>
              <a:t>Companies Law, Royal Decree No (M/132) dated 1/12/1443H (Saudi Arabia)</a:t>
            </a:r>
            <a:endParaRPr lang="en-US" sz="1300" dirty="0"/>
          </a:p>
          <a:p>
            <a:pPr indent="0" marL="0">
              <a:spcAft>
                <a:spcPts val="500"/>
              </a:spcAft>
              <a:buNone/>
            </a:pPr>
            <a:r>
              <a:rPr lang="en-US" sz="1300" dirty="0">
                <a:solidFill>
                  <a:schemeClr val="tx1"/>
                </a:solidFill>
              </a:rPr>
              <a:t>Insolvency Act 1986</a:t>
            </a:r>
            <a:endParaRPr lang="en-US" sz="1300" dirty="0"/>
          </a:p>
          <a:p>
            <a:pPr indent="0" marL="0">
              <a:spcAft>
                <a:spcPts val="500"/>
              </a:spcAft>
              <a:buNone/>
            </a:pPr>
            <a:r>
              <a:rPr lang="en-US" sz="1300" dirty="0">
                <a:solidFill>
                  <a:schemeClr val="tx1"/>
                </a:solidFill>
              </a:rPr>
              <a:t>Companies Act 2006, s 51</a:t>
            </a:r>
            <a:endParaRPr lang="en-US" sz="1300" dirty="0"/>
          </a:p>
        </p:txBody>
      </p:sp>
      <p:sp>
        <p:nvSpPr>
          <p:cNvPr id="4" name="Text 2"/>
          <p:cNvSpPr txBox="1"/>
          <p:nvPr/>
        </p:nvSpPr>
        <p:spPr>
          <a:xfrm>
            <a:off x="6217920" y="1371600"/>
            <a:ext cx="5394960" cy="4754880"/>
          </a:xfrm>
          <a:prstGeom prst="rect">
            <a:avLst/>
          </a:prstGeom>
          <a:noFill/>
          <a:ln/>
        </p:spPr>
        <p:txBody>
          <a:bodyPr wrap="square" lIns="0" tIns="0" rIns="0" bIns="0" rtlCol="0" anchor="t"/>
          <a:lstStyle/>
          <a:p>
            <a:pPr indent="0" marL="0">
              <a:spcAft>
                <a:spcPts val="500"/>
              </a:spcAft>
              <a:buNone/>
            </a:pPr>
            <a:r>
              <a:rPr lang="en-US" sz="1300" b="1" dirty="0">
                <a:solidFill>
                  <a:srgbClr val="0F5C4D"/>
                </a:solidFill>
              </a:rPr>
              <a:t>Secondary sources</a:t>
            </a:r>
            <a:endParaRPr lang="en-US" sz="1300" dirty="0"/>
          </a:p>
          <a:p>
            <a:pPr indent="0" marL="0">
              <a:spcAft>
                <a:spcPts val="500"/>
              </a:spcAft>
              <a:buNone/>
            </a:pPr>
            <a:r>
              <a:rPr lang="en-US" sz="1300" dirty="0">
                <a:solidFill>
                  <a:schemeClr val="tx1"/>
                </a:solidFill>
              </a:rPr>
              <a:t>Davies PL and Worthington S, Gower: Principles of Modern Company Law (11th edn, Sweet &amp; Maxwell 2021)</a:t>
            </a:r>
            <a:endParaRPr lang="en-US" sz="1300" dirty="0"/>
          </a:p>
          <a:p>
            <a:pPr indent="0" marL="0">
              <a:spcAft>
                <a:spcPts val="500"/>
              </a:spcAft>
              <a:buNone/>
            </a:pPr>
            <a:r>
              <a:rPr lang="en-US" sz="1300" dirty="0">
                <a:solidFill>
                  <a:schemeClr val="tx1"/>
                </a:solidFill>
              </a:rPr>
              <a:t>Vogel FE, Islamic Law and Legal System: Studies of Saudi Arabia (Brill 2000)</a:t>
            </a:r>
            <a:endParaRPr lang="en-US" sz="1300" dirty="0"/>
          </a:p>
          <a:p>
            <a:pPr indent="0" marL="0">
              <a:spcAft>
                <a:spcPts val="500"/>
              </a:spcAft>
              <a:buNone/>
            </a:pPr>
            <a:r>
              <a:rPr lang="en-US" sz="1300" dirty="0">
                <a:solidFill>
                  <a:schemeClr val="tx1"/>
                </a:solidFill>
              </a:rPr>
              <a:t>Halwani D and Farsi L, 'Saudi Arabia: Law and Practice' in Chambers Doing Business In 2026 (Chambers and Partners 2026)</a:t>
            </a:r>
            <a:endParaRPr lang="en-US" sz="1300" dirty="0"/>
          </a:p>
          <a:p>
            <a:pPr indent="0" marL="0">
              <a:spcAft>
                <a:spcPts val="500"/>
              </a:spcAft>
              <a:buNone/>
            </a:pPr>
            <a:r>
              <a:rPr lang="en-US" sz="1300" dirty="0">
                <a:solidFill>
                  <a:schemeClr val="tx1"/>
                </a:solidFill>
              </a:rPr>
              <a:t>CWJ, 'Lifting the Corporate Veil' (Clarkson Wright &amp; Jakes, 21 October 2019)</a:t>
            </a:r>
            <a:endParaRPr lang="en-US" sz="1300" dirty="0"/>
          </a:p>
          <a:p>
            <a:pPr indent="0" marL="0">
              <a:spcAft>
                <a:spcPts val="500"/>
              </a:spcAft>
              <a:buNone/>
            </a:pPr>
            <a:r>
              <a:rPr lang="en-US" sz="1300" dirty="0">
                <a:solidFill>
                  <a:schemeClr val="tx1"/>
                </a:solidFill>
              </a:rPr>
              <a:t>Legal Information Institute, 'Limited liability' and 'Piercing the veil' (Cornell Law School, n.d.)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indent="0" marL="0">
              <a:buNone/>
            </a:pPr>
            <a:r>
              <a:rPr lang="en-US" sz="4400" b="1" dirty="0">
                <a:solidFill>
                  <a:schemeClr val="bg1"/>
                </a:solidFill>
              </a:rPr>
              <a:t>Questions?</a:t>
            </a:r>
            <a:endParaRPr lang="en-US" sz="44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000" dirty="0">
                <a:solidFill>
                  <a:schemeClr val="accent6"/>
                </a:solidFill>
              </a:rPr>
              <a:t>Eman AlFires  ·  Monerah AlSheikh  ·  Nouran AlQahtani</a:t>
            </a:r>
            <a:endParaRPr lang="en-US" sz="2000" dirty="0"/>
          </a:p>
        </p:txBody>
      </p:sp>
      <p:sp>
        <p:nvSpPr>
          <p:cNvPr id="4" name="Shape 2"/>
          <p:cNvSpPr/>
          <p:nvPr/>
        </p:nvSpPr>
        <p:spPr>
          <a:xfrm>
            <a:off x="9692640" y="0"/>
            <a:ext cx="1005840" cy="6858000"/>
          </a:xfrm>
          <a:prstGeom prst="rect">
            <a:avLst/>
          </a:prstGeom>
          <a:solidFill>
            <a:schemeClr val="accent6">
              <a:alpha val="18000"/>
            </a:schemeClr>
          </a:solidFill>
          <a:ln w="12700">
            <a:solidFill>
              <a:schemeClr val="accent6">
                <a:alpha val="0"/>
              </a:schemeClr>
            </a:solidFill>
            <a:prstDash val="solid"/>
          </a:ln>
        </p:spPr>
      </p:sp>
      <p:sp>
        <p:nvSpPr>
          <p:cNvPr id="5" name="Shape 3"/>
          <p:cNvSpPr/>
          <p:nvPr/>
        </p:nvSpPr>
        <p:spPr>
          <a:xfrm>
            <a:off x="10332720" y="0"/>
            <a:ext cx="1005840" cy="6858000"/>
          </a:xfrm>
          <a:prstGeom prst="rect">
            <a:avLst/>
          </a:prstGeom>
          <a:solidFill>
            <a:schemeClr val="accent6">
              <a:alpha val="12000"/>
            </a:schemeClr>
          </a:solidFill>
          <a:ln w="12700">
            <a:solidFill>
              <a:schemeClr val="accent6">
                <a:alpha val="0"/>
              </a:schemeClr>
            </a:solidFill>
            <a:prstDash val="solid"/>
          </a:ln>
        </p:spPr>
      </p:sp>
      <p:sp>
        <p:nvSpPr>
          <p:cNvPr id="6" name="Text 4"/>
          <p:cNvSpPr txBox="1"/>
          <p:nvPr/>
        </p:nvSpPr>
        <p:spPr>
          <a:xfrm>
            <a:off x="731520" y="5669280"/>
            <a:ext cx="4572000" cy="457200"/>
          </a:xfrm>
          <a:prstGeom prst="rect">
            <a:avLst/>
          </a:prstGeom>
          <a:noFill/>
          <a:ln/>
        </p:spPr>
        <p:txBody>
          <a:bodyPr wrap="square" lIns="0" tIns="0" rIns="0" bIns="0" rtlCol="0" anchor="ctr"/>
          <a:lstStyle/>
          <a:p>
            <a:pPr indent="0" marL="0">
              <a:buNone/>
            </a:pPr>
            <a:r>
              <a:rPr lang="en-US" sz="1500" b="1" u="sng" dirty="0">
                <a:solidFill>
                  <a:schemeClr val="accent3"/>
                </a:solidFill>
                <a:hlinkClick r:id="rId1" action="ppaction://hlinksldjump" tooltip="Scenarios">
                  <a:extLst>
                    <a:ext uri="{A12FA001-AC4F-418D-AE19-62706E023703}">
                      <ahyp:hlinkClr xmlns:ahyp="http://schemas.microsoft.com/office/drawing/2018/hyperlinkcolor" val="tx"/>
                    </a:ext>
                  </a:extLst>
                </a:hlinkClick>
              </a:rPr>
              <a:t>‹  Back to the scenarios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Scenario 1: The land deal</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914400" y="1691640"/>
            <a:ext cx="466344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United Kingdom</a:t>
            </a:r>
            <a:endParaRPr lang="en-US" sz="1800" dirty="0"/>
          </a:p>
        </p:txBody>
      </p:sp>
      <p:sp>
        <p:nvSpPr>
          <p:cNvPr id="8" name="Text 6"/>
          <p:cNvSpPr txBox="1"/>
          <p:nvPr/>
        </p:nvSpPr>
        <p:spPr>
          <a:xfrm>
            <a:off x="91440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YES</a:t>
            </a:r>
            <a:endParaRPr lang="en-US" sz="4400" dirty="0"/>
          </a:p>
        </p:txBody>
      </p:sp>
      <p:sp>
        <p:nvSpPr>
          <p:cNvPr id="9" name="Text 7"/>
          <p:cNvSpPr txBox="1"/>
          <p:nvPr/>
        </p:nvSpPr>
        <p:spPr>
          <a:xfrm>
            <a:off x="91440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Evasion principle. Ahmed owed an existing duty to complete the sale and used his company to evade it: Jones v Lipman. Specific performance against the company.</a:t>
            </a:r>
            <a:endParaRPr lang="en-US" sz="1800" dirty="0"/>
          </a:p>
        </p:txBody>
      </p:sp>
      <p:sp>
        <p:nvSpPr>
          <p:cNvPr id="10" name="Shape 8"/>
          <p:cNvSpPr/>
          <p:nvPr/>
        </p:nvSpPr>
        <p:spPr>
          <a:xfrm>
            <a:off x="617220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Text 9"/>
          <p:cNvSpPr txBox="1"/>
          <p:nvPr/>
        </p:nvSpPr>
        <p:spPr>
          <a:xfrm>
            <a:off x="6537960" y="1691640"/>
            <a:ext cx="46634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Saudi Arabia</a:t>
            </a:r>
            <a:endParaRPr lang="en-US" sz="1800" dirty="0"/>
          </a:p>
        </p:txBody>
      </p:sp>
      <p:sp>
        <p:nvSpPr>
          <p:cNvPr id="12" name="Text 10"/>
          <p:cNvSpPr txBox="1"/>
          <p:nvPr/>
        </p:nvSpPr>
        <p:spPr>
          <a:xfrm>
            <a:off x="653796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LIKELY</a:t>
            </a:r>
            <a:endParaRPr lang="en-US" sz="4400" dirty="0"/>
          </a:p>
        </p:txBody>
      </p:sp>
      <p:sp>
        <p:nvSpPr>
          <p:cNvPr id="13" name="Text 11"/>
          <p:cNvSpPr txBox="1"/>
          <p:nvPr/>
        </p:nvSpPr>
        <p:spPr>
          <a:xfrm>
            <a:off x="653796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No general piercing article. A claimant would rely on Sharia prohibitions on fraud and the court's discretion. Relief is plausible but less predictable.</a:t>
            </a:r>
            <a:endParaRPr lang="en-US" sz="1800" dirty="0"/>
          </a:p>
        </p:txBody>
      </p:sp>
      <p:sp>
        <p:nvSpPr>
          <p:cNvPr id="14" name="Shape 12"/>
          <p:cNvSpPr/>
          <p:nvPr/>
        </p:nvSpPr>
        <p:spPr>
          <a:xfrm>
            <a:off x="548640" y="5577840"/>
            <a:ext cx="2926080" cy="548640"/>
          </a:xfrm>
          <a:prstGeom prst="roundRect">
            <a:avLst>
              <a:gd name="adj" fmla="val 50000"/>
            </a:avLst>
          </a:prstGeom>
          <a:solidFill>
            <a:schemeClr val="tx1"/>
          </a:solidFill>
          <a:ln w="12700">
            <a:solidFill>
              <a:schemeClr val="tx1"/>
            </a:solidFill>
            <a:prstDash val="solid"/>
          </a:ln>
        </p:spPr>
      </p:sp>
      <p:sp>
        <p:nvSpPr>
          <p:cNvPr id="15" name="Text 13"/>
          <p:cNvSpPr txBox="1"/>
          <p:nvPr/>
        </p:nvSpPr>
        <p:spPr>
          <a:xfrm>
            <a:off x="548640" y="5577840"/>
            <a:ext cx="2926080" cy="54864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1" action="ppaction://hlinksldjump" tooltip="Back">
                  <a:extLst>
                    <a:ext uri="{A12FA001-AC4F-418D-AE19-62706E023703}">
                      <ahyp:hlinkClr xmlns:ahyp="http://schemas.microsoft.com/office/drawing/2018/hyperlinkcolor" val="tx"/>
                    </a:ext>
                  </a:extLst>
                </a:hlinkClick>
              </a:rPr>
              <a:t>‹  Back to scenarios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Scenario 2: The overseas subsidiary</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914400" y="1691640"/>
            <a:ext cx="466344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United Kingdom</a:t>
            </a:r>
            <a:endParaRPr lang="en-US" sz="1800" dirty="0"/>
          </a:p>
        </p:txBody>
      </p:sp>
      <p:sp>
        <p:nvSpPr>
          <p:cNvPr id="8" name="Text 6"/>
          <p:cNvSpPr txBox="1"/>
          <p:nvPr/>
        </p:nvSpPr>
        <p:spPr>
          <a:xfrm>
            <a:off x="914400" y="2148840"/>
            <a:ext cx="4663440" cy="91440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NO</a:t>
            </a:r>
            <a:endParaRPr lang="en-US" sz="4400" dirty="0"/>
          </a:p>
        </p:txBody>
      </p:sp>
      <p:sp>
        <p:nvSpPr>
          <p:cNvPr id="9" name="Text 7"/>
          <p:cNvSpPr txBox="1"/>
          <p:nvPr/>
        </p:nvSpPr>
        <p:spPr>
          <a:xfrm>
            <a:off x="91440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Adams v Cape: a group is not one economic unit, and using subsidiaries to limit future liability is legitimate.</a:t>
            </a:r>
            <a:endParaRPr lang="en-US" sz="1800" dirty="0"/>
          </a:p>
        </p:txBody>
      </p:sp>
      <p:sp>
        <p:nvSpPr>
          <p:cNvPr id="10" name="Shape 8"/>
          <p:cNvSpPr/>
          <p:nvPr/>
        </p:nvSpPr>
        <p:spPr>
          <a:xfrm>
            <a:off x="617220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Text 9"/>
          <p:cNvSpPr txBox="1"/>
          <p:nvPr/>
        </p:nvSpPr>
        <p:spPr>
          <a:xfrm>
            <a:off x="6537960" y="1691640"/>
            <a:ext cx="46634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Saudi Arabia</a:t>
            </a:r>
            <a:endParaRPr lang="en-US" sz="1800" dirty="0"/>
          </a:p>
        </p:txBody>
      </p:sp>
      <p:sp>
        <p:nvSpPr>
          <p:cNvPr id="12" name="Text 10"/>
          <p:cNvSpPr txBox="1"/>
          <p:nvPr/>
        </p:nvSpPr>
        <p:spPr>
          <a:xfrm>
            <a:off x="6537960" y="2148840"/>
            <a:ext cx="4663440" cy="91440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NO</a:t>
            </a:r>
            <a:endParaRPr lang="en-US" sz="4400" dirty="0"/>
          </a:p>
        </p:txBody>
      </p:sp>
      <p:sp>
        <p:nvSpPr>
          <p:cNvPr id="13" name="Text 11"/>
          <p:cNvSpPr txBox="1"/>
          <p:nvPr/>
        </p:nvSpPr>
        <p:spPr>
          <a:xfrm>
            <a:off x="653796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Shareholders are liable only up to their contributions. The parent is exposed only if it acted as manager or board member (Art 28).</a:t>
            </a:r>
            <a:endParaRPr lang="en-US" sz="1800" dirty="0"/>
          </a:p>
        </p:txBody>
      </p:sp>
      <p:sp>
        <p:nvSpPr>
          <p:cNvPr id="14" name="Shape 12"/>
          <p:cNvSpPr/>
          <p:nvPr/>
        </p:nvSpPr>
        <p:spPr>
          <a:xfrm>
            <a:off x="548640" y="5577840"/>
            <a:ext cx="2926080" cy="548640"/>
          </a:xfrm>
          <a:prstGeom prst="roundRect">
            <a:avLst>
              <a:gd name="adj" fmla="val 50000"/>
            </a:avLst>
          </a:prstGeom>
          <a:solidFill>
            <a:schemeClr val="tx1"/>
          </a:solidFill>
          <a:ln w="12700">
            <a:solidFill>
              <a:schemeClr val="tx1"/>
            </a:solidFill>
            <a:prstDash val="solid"/>
          </a:ln>
        </p:spPr>
      </p:sp>
      <p:sp>
        <p:nvSpPr>
          <p:cNvPr id="15" name="Text 13"/>
          <p:cNvSpPr txBox="1"/>
          <p:nvPr/>
        </p:nvSpPr>
        <p:spPr>
          <a:xfrm>
            <a:off x="548640" y="5577840"/>
            <a:ext cx="2926080" cy="54864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1" action="ppaction://hlinksldjump" tooltip="Back">
                  <a:extLst>
                    <a:ext uri="{A12FA001-AC4F-418D-AE19-62706E023703}">
                      <ahyp:hlinkClr xmlns:ahyp="http://schemas.microsoft.com/office/drawing/2018/hyperlinkcolor" val="tx"/>
                    </a:ext>
                  </a:extLst>
                </a:hlinkClick>
              </a:rPr>
              <a:t>‹  Back to scenarios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Scenario 3: Signed too early</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914400" y="1691640"/>
            <a:ext cx="466344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United Kingdom</a:t>
            </a:r>
            <a:endParaRPr lang="en-US" sz="1800" dirty="0"/>
          </a:p>
        </p:txBody>
      </p:sp>
      <p:sp>
        <p:nvSpPr>
          <p:cNvPr id="8" name="Text 6"/>
          <p:cNvSpPr txBox="1"/>
          <p:nvPr/>
        </p:nvSpPr>
        <p:spPr>
          <a:xfrm>
            <a:off x="91440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PERSONAL</a:t>
            </a:r>
            <a:endParaRPr lang="en-US" sz="4400" dirty="0"/>
          </a:p>
        </p:txBody>
      </p:sp>
      <p:sp>
        <p:nvSpPr>
          <p:cNvPr id="9" name="Text 7"/>
          <p:cNvSpPr txBox="1"/>
          <p:nvPr/>
        </p:nvSpPr>
        <p:spPr>
          <a:xfrm>
            <a:off x="91440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Companies Act 2006, s 51: the person contracting for an unformed company is personally liable. Not piercing: there is no company yet.</a:t>
            </a:r>
            <a:endParaRPr lang="en-US" sz="1800" dirty="0"/>
          </a:p>
        </p:txBody>
      </p:sp>
      <p:sp>
        <p:nvSpPr>
          <p:cNvPr id="10" name="Shape 8"/>
          <p:cNvSpPr/>
          <p:nvPr/>
        </p:nvSpPr>
        <p:spPr>
          <a:xfrm>
            <a:off x="617220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Text 9"/>
          <p:cNvSpPr txBox="1"/>
          <p:nvPr/>
        </p:nvSpPr>
        <p:spPr>
          <a:xfrm>
            <a:off x="6537960" y="1691640"/>
            <a:ext cx="46634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Saudi Arabia</a:t>
            </a:r>
            <a:endParaRPr lang="en-US" sz="1800" dirty="0"/>
          </a:p>
        </p:txBody>
      </p:sp>
      <p:sp>
        <p:nvSpPr>
          <p:cNvPr id="12" name="Text 10"/>
          <p:cNvSpPr txBox="1"/>
          <p:nvPr/>
        </p:nvSpPr>
        <p:spPr>
          <a:xfrm>
            <a:off x="653796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PERSONAL</a:t>
            </a:r>
            <a:endParaRPr lang="en-US" sz="4400" dirty="0"/>
          </a:p>
        </p:txBody>
      </p:sp>
      <p:sp>
        <p:nvSpPr>
          <p:cNvPr id="13" name="Text 11"/>
          <p:cNvSpPr txBox="1"/>
          <p:nvPr/>
        </p:nvSpPr>
        <p:spPr>
          <a:xfrm>
            <a:off x="653796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Article 9: those who act in the company's name are jointly and personally liable to third parties if incorporation is not completed.</a:t>
            </a:r>
            <a:endParaRPr lang="en-US" sz="1800" dirty="0"/>
          </a:p>
        </p:txBody>
      </p:sp>
      <p:sp>
        <p:nvSpPr>
          <p:cNvPr id="14" name="Shape 12"/>
          <p:cNvSpPr/>
          <p:nvPr/>
        </p:nvSpPr>
        <p:spPr>
          <a:xfrm>
            <a:off x="548640" y="5577840"/>
            <a:ext cx="2926080" cy="548640"/>
          </a:xfrm>
          <a:prstGeom prst="roundRect">
            <a:avLst>
              <a:gd name="adj" fmla="val 50000"/>
            </a:avLst>
          </a:prstGeom>
          <a:solidFill>
            <a:schemeClr val="tx1"/>
          </a:solidFill>
          <a:ln w="12700">
            <a:solidFill>
              <a:schemeClr val="tx1"/>
            </a:solidFill>
            <a:prstDash val="solid"/>
          </a:ln>
        </p:spPr>
      </p:sp>
      <p:sp>
        <p:nvSpPr>
          <p:cNvPr id="15" name="Text 13"/>
          <p:cNvSpPr txBox="1"/>
          <p:nvPr/>
        </p:nvSpPr>
        <p:spPr>
          <a:xfrm>
            <a:off x="548640" y="5577840"/>
            <a:ext cx="2926080" cy="54864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1" action="ppaction://hlinksldjump" tooltip="Back">
                  <a:extLst>
                    <a:ext uri="{A12FA001-AC4F-418D-AE19-62706E023703}">
                      <ahyp:hlinkClr xmlns:ahyp="http://schemas.microsoft.com/office/drawing/2018/hyperlinkcolor" val="tx"/>
                    </a:ext>
                  </a:extLst>
                </a:hlinkClick>
              </a:rPr>
              <a:t>‹  Back to scenarios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8595360" cy="777240"/>
          </a:xfrm>
          <a:prstGeom prst="rect">
            <a:avLst/>
          </a:prstGeom>
          <a:noFill/>
          <a:ln/>
        </p:spPr>
        <p:txBody>
          <a:bodyPr wrap="square" lIns="0" tIns="0" rIns="0" bIns="0" rtlCol="0" anchor="ctr"/>
          <a:lstStyle/>
          <a:p>
            <a:pPr algn="l" indent="0" marL="0">
              <a:buNone/>
            </a:pPr>
            <a:r>
              <a:rPr lang="en-US" sz="3200" b="1" dirty="0">
                <a:solidFill>
                  <a:schemeClr val="tx1"/>
                </a:solidFill>
              </a:rPr>
              <a:t>Scenario 4: Trading into the wall</a:t>
            </a:r>
            <a:endParaRPr lang="en-US" sz="3200" dirty="0"/>
          </a:p>
        </p:txBody>
      </p:sp>
      <p:sp>
        <p:nvSpPr>
          <p:cNvPr id="3" name="Speaker chip"/>
          <p:cNvSpPr/>
          <p:nvPr/>
        </p:nvSpPr>
        <p:spPr>
          <a:xfrm>
            <a:off x="9464040" y="566928"/>
            <a:ext cx="2194560" cy="457200"/>
          </a:xfrm>
          <a:prstGeom prst="roundRect">
            <a:avLst>
              <a:gd name="adj" fmla="val 50000"/>
            </a:avLst>
          </a:prstGeom>
          <a:solidFill>
            <a:schemeClr val="bg2"/>
          </a:solidFill>
          <a:ln w="12700">
            <a:solidFill>
              <a:schemeClr val="bg2"/>
            </a:solidFill>
            <a:prstDash val="solid"/>
          </a:ln>
        </p:spPr>
      </p:sp>
      <p:sp>
        <p:nvSpPr>
          <p:cNvPr id="4" name="Shape 2"/>
          <p:cNvSpPr/>
          <p:nvPr/>
        </p:nvSpPr>
        <p:spPr>
          <a:xfrm>
            <a:off x="9601200" y="704088"/>
            <a:ext cx="182880" cy="182880"/>
          </a:xfrm>
          <a:prstGeom prst="ellipse">
            <a:avLst/>
          </a:prstGeom>
          <a:solidFill>
            <a:schemeClr val="accent3"/>
          </a:solidFill>
          <a:ln w="12700">
            <a:solidFill>
              <a:schemeClr val="accent3"/>
            </a:solidFill>
            <a:prstDash val="solid"/>
          </a:ln>
        </p:spPr>
      </p:sp>
      <p:sp>
        <p:nvSpPr>
          <p:cNvPr id="5" name="Text 3"/>
          <p:cNvSpPr txBox="1"/>
          <p:nvPr/>
        </p:nvSpPr>
        <p:spPr>
          <a:xfrm>
            <a:off x="9875520" y="566928"/>
            <a:ext cx="1737360" cy="457200"/>
          </a:xfrm>
          <a:prstGeom prst="rect">
            <a:avLst/>
          </a:prstGeom>
          <a:noFill/>
          <a:ln/>
        </p:spPr>
        <p:txBody>
          <a:bodyPr wrap="square" lIns="0" tIns="0" rIns="0" bIns="0" rtlCol="0" anchor="ctr"/>
          <a:lstStyle/>
          <a:p>
            <a:pPr indent="0" marL="0">
              <a:buNone/>
            </a:pPr>
            <a:r>
              <a:rPr lang="en-US" sz="1200" b="1" dirty="0">
                <a:solidFill>
                  <a:schemeClr val="tx1"/>
                </a:solidFill>
              </a:rPr>
              <a:t>Nouran</a:t>
            </a:r>
            <a:pPr indent="0" marL="0">
              <a:buNone/>
            </a:pPr>
            <a:r>
              <a:rPr lang="en-US" sz="1200" dirty="0">
                <a:solidFill>
                  <a:schemeClr val="tx1"/>
                </a:solidFill>
              </a:rPr>
              <a:t>  10:00 – 15:00</a:t>
            </a:r>
            <a:endParaRPr lang="en-US" sz="1200" dirty="0"/>
          </a:p>
        </p:txBody>
      </p:sp>
      <p:sp>
        <p:nvSpPr>
          <p:cNvPr id="6" name="Shape 4"/>
          <p:cNvSpPr/>
          <p:nvPr/>
        </p:nvSpPr>
        <p:spPr>
          <a:xfrm>
            <a:off x="54864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7" name="Text 5"/>
          <p:cNvSpPr txBox="1"/>
          <p:nvPr/>
        </p:nvSpPr>
        <p:spPr>
          <a:xfrm>
            <a:off x="914400" y="1691640"/>
            <a:ext cx="4663440" cy="41148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United Kingdom</a:t>
            </a:r>
            <a:endParaRPr lang="en-US" sz="1800" dirty="0"/>
          </a:p>
        </p:txBody>
      </p:sp>
      <p:sp>
        <p:nvSpPr>
          <p:cNvPr id="8" name="Text 6"/>
          <p:cNvSpPr txBox="1"/>
          <p:nvPr/>
        </p:nvSpPr>
        <p:spPr>
          <a:xfrm>
            <a:off x="91440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CONTRIBUTE</a:t>
            </a:r>
            <a:endParaRPr lang="en-US" sz="4400" dirty="0"/>
          </a:p>
        </p:txBody>
      </p:sp>
      <p:sp>
        <p:nvSpPr>
          <p:cNvPr id="9" name="Text 7"/>
          <p:cNvSpPr txBox="1"/>
          <p:nvPr/>
        </p:nvSpPr>
        <p:spPr>
          <a:xfrm>
            <a:off x="91440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Wrongful trading, IA 1986 s 214. Directors contribute to the company's assets for all creditors. The veil stays intact.</a:t>
            </a:r>
            <a:endParaRPr lang="en-US" sz="1800" dirty="0"/>
          </a:p>
        </p:txBody>
      </p:sp>
      <p:sp>
        <p:nvSpPr>
          <p:cNvPr id="10" name="Shape 8"/>
          <p:cNvSpPr/>
          <p:nvPr/>
        </p:nvSpPr>
        <p:spPr>
          <a:xfrm>
            <a:off x="6172200" y="1463040"/>
            <a:ext cx="544068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1B1F2A">
                <a:alpha val="12000"/>
              </a:srgbClr>
            </a:outerShdw>
          </a:effectLst>
        </p:spPr>
      </p:sp>
      <p:sp>
        <p:nvSpPr>
          <p:cNvPr id="11" name="Text 9"/>
          <p:cNvSpPr txBox="1"/>
          <p:nvPr/>
        </p:nvSpPr>
        <p:spPr>
          <a:xfrm>
            <a:off x="6537960" y="1691640"/>
            <a:ext cx="46634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Saudi Arabia</a:t>
            </a:r>
            <a:endParaRPr lang="en-US" sz="1800" dirty="0"/>
          </a:p>
        </p:txBody>
      </p:sp>
      <p:sp>
        <p:nvSpPr>
          <p:cNvPr id="12" name="Text 10"/>
          <p:cNvSpPr txBox="1"/>
          <p:nvPr/>
        </p:nvSpPr>
        <p:spPr>
          <a:xfrm>
            <a:off x="6537960" y="2148840"/>
            <a:ext cx="4663440" cy="914400"/>
          </a:xfrm>
          <a:prstGeom prst="rect">
            <a:avLst/>
          </a:prstGeom>
          <a:noFill/>
          <a:ln/>
        </p:spPr>
        <p:txBody>
          <a:bodyPr wrap="square" lIns="0" tIns="0" rIns="0" bIns="0" rtlCol="0" anchor="ctr"/>
          <a:lstStyle/>
          <a:p>
            <a:pPr indent="0" marL="0">
              <a:buNone/>
            </a:pPr>
            <a:r>
              <a:rPr lang="en-US" sz="4400" b="1" dirty="0">
                <a:solidFill>
                  <a:schemeClr val="tx1"/>
                </a:solidFill>
                <a:latin typeface="Cambria" pitchFamily="34" charset="0"/>
                <a:ea typeface="Cambria" pitchFamily="34" charset="-122"/>
                <a:cs typeface="Cambria" pitchFamily="34" charset="-120"/>
              </a:rPr>
              <a:t>PERSONAL</a:t>
            </a:r>
            <a:endParaRPr lang="en-US" sz="4400" dirty="0"/>
          </a:p>
        </p:txBody>
      </p:sp>
      <p:sp>
        <p:nvSpPr>
          <p:cNvPr id="13" name="Text 11"/>
          <p:cNvSpPr txBox="1"/>
          <p:nvPr/>
        </p:nvSpPr>
        <p:spPr>
          <a:xfrm>
            <a:off x="6537960" y="3200400"/>
            <a:ext cx="4709160" cy="2057400"/>
          </a:xfrm>
          <a:prstGeom prst="rect">
            <a:avLst/>
          </a:prstGeom>
          <a:noFill/>
          <a:ln/>
        </p:spPr>
        <p:txBody>
          <a:bodyPr wrap="square" lIns="0" tIns="0" rIns="0" bIns="0" rtlCol="0" anchor="t"/>
          <a:lstStyle/>
          <a:p>
            <a:pPr indent="0" marL="0">
              <a:buNone/>
            </a:pPr>
            <a:r>
              <a:rPr lang="en-US" sz="1800" dirty="0">
                <a:solidFill>
                  <a:schemeClr val="tx1"/>
                </a:solidFill>
              </a:rPr>
              <a:t>Article 28: managers and board members are jointly liable for damage from negligence, and third parties can claim directly.</a:t>
            </a:r>
            <a:endParaRPr lang="en-US" sz="1800" dirty="0"/>
          </a:p>
        </p:txBody>
      </p:sp>
      <p:sp>
        <p:nvSpPr>
          <p:cNvPr id="14" name="Shape 12"/>
          <p:cNvSpPr/>
          <p:nvPr/>
        </p:nvSpPr>
        <p:spPr>
          <a:xfrm>
            <a:off x="548640" y="5577840"/>
            <a:ext cx="2926080" cy="548640"/>
          </a:xfrm>
          <a:prstGeom prst="roundRect">
            <a:avLst>
              <a:gd name="adj" fmla="val 50000"/>
            </a:avLst>
          </a:prstGeom>
          <a:solidFill>
            <a:schemeClr val="tx1"/>
          </a:solidFill>
          <a:ln w="12700">
            <a:solidFill>
              <a:schemeClr val="tx1"/>
            </a:solidFill>
            <a:prstDash val="solid"/>
          </a:ln>
        </p:spPr>
      </p:sp>
      <p:sp>
        <p:nvSpPr>
          <p:cNvPr id="15" name="Text 13"/>
          <p:cNvSpPr txBox="1"/>
          <p:nvPr/>
        </p:nvSpPr>
        <p:spPr>
          <a:xfrm>
            <a:off x="548640" y="5577840"/>
            <a:ext cx="2926080" cy="54864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1" action="ppaction://hlinksldjump" tooltip="Back">
                  <a:extLst>
                    <a:ext uri="{A12FA001-AC4F-418D-AE19-62706E023703}">
                      <ahyp:hlinkClr xmlns:ahyp="http://schemas.microsoft.com/office/drawing/2018/hyperlinkcolor" val="tx"/>
                    </a:ext>
                  </a:extLst>
                </a:hlinkClick>
              </a:rPr>
              <a:t>‹  Back to scenarios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Veil">
  <a:themeElements>
    <a:clrScheme name="Veil">
      <a:dk1>
        <a:srgbClr val="1B1F2A"/>
      </a:dk1>
      <a:lt1>
        <a:srgbClr val="FFFFFF"/>
      </a:lt1>
      <a:dk2>
        <a:srgbClr val="0F5C4D"/>
      </a:dk2>
      <a:lt2>
        <a:srgbClr val="EEF3F1"/>
      </a:lt2>
      <a:accent1>
        <a:srgbClr val="0F6B53"/>
      </a:accent1>
      <a:accent2>
        <a:srgbClr val="2F3C7E"/>
      </a:accent2>
      <a:accent3>
        <a:srgbClr val="C9A227"/>
      </a:accent3>
      <a:accent4>
        <a:srgbClr val="B23A48"/>
      </a:accent4>
      <a:accent5>
        <a:srgbClr val="5C6B73"/>
      </a:accent5>
      <a:accent6>
        <a:srgbClr val="8FB9A8"/>
      </a:accent6>
      <a:hlink>
        <a:srgbClr val="2F3C7E"/>
      </a:hlink>
      <a:folHlink>
        <a:srgbClr val="5C6B73"/>
      </a:folHlink>
    </a:clrScheme>
    <a:fontScheme name="Vei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Lifting the Corporate Veil in Saudi Arabia</dc:title>
  <dc:subject>PptxGenJS Presentation</dc:subject>
  <dc:creator>Eman AlFires, Monerah AlSheikh, Nouran AlQahtani</dc:creator>
  <cp:lastModifiedBy>Eman AlFires, Monerah AlSheikh, Nouran AlQahtani</cp:lastModifiedBy>
  <cp:revision>1</cp:revision>
  <dcterms:created xsi:type="dcterms:W3CDTF">2026-10-20T18:11:58Z</dcterms:created>
  <dcterms:modified xsi:type="dcterms:W3CDTF">2026-10-20T18:11:58Z</dcterms:modified>
</cp:coreProperties>
</file>